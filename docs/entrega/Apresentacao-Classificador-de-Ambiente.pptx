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0e17f7d3-11c0-890b-0971-01209ddcdbdf}">
          <p14:sldIdLst>
            <p14:sldId id="256"/>
            <p14:sldId id="257"/>
            <p14:sldId id="258"/>
          </p14:sldIdLst>
        </p14:section>
        <p14:section name="Hardware e testes iniciais" id="{7f81a301-5d9f-c7a0-44f5-a5eff2a6b198}">
          <p14:sldIdLst>
            <p14:sldId id="259"/>
            <p14:sldId id="260"/>
          </p14:sldIdLst>
        </p14:section>
        <p14:section name="Dados e modelo" id="{ce39d65a-de51-89c3-bd3e-71dd519bdf6e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Embarcado" id="{0e37b74e-2785-9513-2e7d-4a66d4a4970f}">
          <p14:sldIdLst>
            <p14:sldId id="267"/>
            <p14:sldId id="268"/>
            <p14:sldId id="269"/>
          </p14:sldIdLst>
        </p14:section>
        <p14:section name="Produto" id="{d435dcbf-5e5e-58c4-7ecd-86d9cd5df77a}">
          <p14:sldIdLst>
            <p14:sldId id="270"/>
            <p14:sldId id="271"/>
          </p14:sldIdLst>
        </p14:section>
        <p14:section name="Conclusão" id="{2c7fadd2-8742-3c59-5a67-40dd13b2a20f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Primeira versão · F1 macro na validação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(validação, 2 folds)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</c:v>
                  </c:pt>
                  <c:pt idx="3">
                    <c:v>Decision Tree</c:v>
                  </c:pt>
                  <c:pt idx="4">
                    <c:v>Random Forest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0.14</c:v>
                </c:pt>
                <c:pt idx="1">
                  <c:v>0.613</c:v>
                </c:pt>
                <c:pt idx="2">
                  <c:v>0.701</c:v>
                </c:pt>
                <c:pt idx="3">
                  <c:v>0.728</c:v>
                </c:pt>
                <c:pt idx="4">
                  <c:v>0.756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Versão final · F1 macro na validação cruzada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 (CV 5 folds)</c:v>
                </c:pt>
              </c:strCache>
            </c:strRef>
          </c:tx>
          <c:spPr>
            <a:solidFill>
              <a:srgbClr val="3F8A7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Logistic Reg.</c:v>
                  </c:pt>
                  <c:pt idx="2">
                    <c:v>MLP (8,4)</c:v>
                  </c:pt>
                  <c:pt idx="3">
                    <c:v>Random Forest</c:v>
                  </c:pt>
                  <c:pt idx="4">
                    <c:v>Decision Tree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0.114</c:v>
                </c:pt>
                <c:pt idx="1">
                  <c:v>0.798</c:v>
                </c:pt>
                <c:pt idx="2">
                  <c:v>0.974</c:v>
                </c:pt>
                <c:pt idx="3">
                  <c:v>0.988</c:v>
                </c:pt>
                <c:pt idx="4">
                  <c:v>0.99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macro</c:v>
                </c:pt>
              </c:strCache>
            </c:strRef>
          </c:tx>
          <c:spPr>
            <a:solidFill>
              <a:srgbClr val="3F8A7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Prof. 2 · 7 nós</c:v>
                  </c:pt>
                  <c:pt idx="1">
                    <c:v>Prof. 3 · 15 nós</c:v>
                  </c:pt>
                  <c:pt idx="2">
                    <c:v>Prof. 4 · 25 nós</c:v>
                  </c:pt>
                  <c:pt idx="3">
                    <c:v>Prof. 5 a 10 · 25 nós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0.757</c:v>
                </c:pt>
                <c:pt idx="1">
                  <c:v>0.901</c:v>
                </c:pt>
                <c:pt idx="2">
                  <c:v>0.99</c:v>
                </c:pt>
                <c:pt idx="3">
                  <c:v>0.99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 crítico</c:v>
                </c:pt>
              </c:strCache>
            </c:strRef>
          </c:tx>
          <c:spPr>
            <a:solidFill>
              <a:srgbClr val="CC665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Prof. 2 · 7 nós</c:v>
                  </c:pt>
                  <c:pt idx="1">
                    <c:v>Prof. 3 · 15 nós</c:v>
                  </c:pt>
                  <c:pt idx="2">
                    <c:v>Prof. 4 · 25 nós</c:v>
                  </c:pt>
                  <c:pt idx="3">
                    <c:v>Prof. 5 a 10 · 25 nós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</c:v>
                </c:pt>
                <c:pt idx="1">
                  <c:v>0.756</c:v>
                </c:pt>
                <c:pt idx="2">
                  <c:v>0.987</c:v>
                </c:pt>
                <c:pt idx="3">
                  <c:v>0.987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5291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5291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5291F"/>
                </a:solidFill>
                <a:latin typeface="+mn-lt"/>
              </a:rPr>
              <a:t>Erro médio da previsão de +60 s (MAE, °C)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(°C)</c:v>
                </c:pt>
              </c:strCache>
            </c:strRef>
          </c:tx>
          <c:spPr>
            <a:solidFill>
              <a:srgbClr val="D98A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291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Repetir leitura atual</c:v>
                  </c:pt>
                  <c:pt idx="1">
                    <c:v>Extrapolar tendência</c:v>
                  </c:pt>
                  <c:pt idx="2">
                    <c:v>Regressão linear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1.23</c:v>
                </c:pt>
                <c:pt idx="2">
                  <c:v>1.02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5291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F6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equipe (Rafaela Santana, Miriam Aguiar e Sara Coutinho) e a unidade curricular IA Embarcada e Modelos Compactos, com o professor Rodrigo Kobashikawa Rosa. Depois, apresentar o projeto: um sistema que lê temperatura, umidade e presença e classifica o ambiente em quatro estados dentro da própria placa, sem depender de nuvem. A foto mostra os componentes usados no início da montagem.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Contextualizar: temperatura e umidade afetam saúde, conforto e conservação de equipamentos. As soluções comuns dependem de nuvem, custam caro e usam limites fixos. Daí a pergunta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Objetivo: ler sensores, classificar e acionar respostas locais sem depender da nuvem. A inferência é a etapa central, destacada em escuro. Prioridade dos estados: crítico, alerta, presença, normal. A nuvem é opcional e serve para histórico e visualização.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Montagem final com quatro componentes além do Pico W. A numeração é de GPIO, não do pino físico. O sensor IR é ativo em nível baixo: IR=0 significa presença. O joystick foi removido porque não contribuía para a classificação.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qualquer IA, cada componente foi testado isoladamente em MicroPython. Isso evitou confundir erro de hardware com erro do modelo. Dois aprendizados: o DHT11 precisou mudar para o GP2 e o IR é ativo em nível baixo.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coleta real teve 235 medições, mas só 79 combinações diferentes: 156 eram repetidas. Os rótulos vêm de uma política de prioridade definida pela equipe. A presença reduz os limites de criticidade. Deixar claro que as classes são derivadas das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iniciais usaram só a coleta real. O resultado foi fraco (F1 0,73), e os testes mostraram por quê: quase nenhum exemplo de presença e nenhuma temperatura acima de 35 °C. O 100 % no teste era enganoso, porque só havia 20 amostras. Esse diagnóstico guiou a versão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do diagnóstico, o dataset foi expandido para 1.000 registros, 250 por classe, com exemplos sintéticos perto dos limiares onde o modelo errava. Os dados sintéticos ficam identificados. A avaliação ficou mais robusta: 5 folds e 127 amostras de teste. Resultado: F1 de 0,73 para 0,99.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Comparamos baseline, regressão logística, árvore, Random Forest e MLP com validação cruzada estratificada de 5 folds. A logística perde porque as fronteiras são alinhadas aos eixos e mudam com a presença. A árvore foi escolhida por empatar com a Random Forest usando 47 vezes menos memória, ser interpretável e dispensar normalização.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compressão foi feita em três etapas. Primeiro, poda: limitamos a profundidade da árvore e medimos o desempenho de cada tamanho. Com profundidade 2 ou 3 o recall da classe crítica cai muito; a profundidade 4 é o menor tamanho com desempenho máximo. Segundo, troca do ensemble por um modelo compacto: a Random Forest tinha 18.944 bytes e a árvore tem 400, 47 vezes menor, com o mesmo F1 no teste. Terceiro, conversão sem runtime: o modelo vira código C++ puro, sem TensorFlow Lite Micro.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teste reservado, 127 combinações nunca vistas no treino: 99,2 % de acerto e F1 macro de 99,3 %. O recall da classe crítica, o erro mais caro, ficou em 97,1 %. O único erro foi um crítico classificado como alerta, que mesmo assim dispara os atuadores. Em 20 mil entradas aleatórias, a árvore concorda com as regras em 98,2 % dos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árvore é convertida automaticamente em uma função C++ com if/else aninhados, sem TensorFlow Lite. Para garantir equivalência, compilamos o C++ e comparamos com o scikit-learn em 13.224 entradas, inclusive nos limiares: zero divergências. O firmware completo usa 14 % da flash e 26 % da 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Além de classificar, a placa prevê a temperatura em 60 segundos com erro médio de cerca de 1 °C, melhor que repetir a leitura atual ou extrapolar a tendência. Atenção: a regressão foi treinada com janelas sintéticas. Robustez: fora da faixa de treino, a árvore não é usada, porque não sabe extrapolar; quem decide são as regras.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gravação é simples: BOOTSEL, copiar o UF2 e a placa reinicia com o novo firmware. O print é da primeira execução real: a placa lendo 26,7 °C e 61 % e classificando como normal. Hoje a saída é em JSON, com médias, tendência e previsão.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placa envia a leitura por HTTPS para uma Edge Function do Supabase. A função confere o token do dispositivo e valida os valores antes de gravar. O banco tem regras de segurança (RLS) e a chave de administrador nunca fica na placa nem no site. O painel React, publicado na Vercel, lê pela USB ou pela nuvem e tem um simulador.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Vídeo de 10 segundos: o protótipo na bancada e o painel publicado mostrando as leituras chegando. O QR code abre o painel ao vivo, para quem quiser acompanhar no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transparência: o sistema funciona de ponta a ponta e o modelo é preciso, mas aprende uma política definida por nós, com boa parte dos dados sintética. O próximo passo natural é a validação em campo com rótulos observados.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Agradecer e abrir para perguntas. O QR code leva ao repositório com o código, os dados e a documentação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rgbClr val="A9BEB4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3F8A70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15291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E6F67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E21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rgbClr val="D9A24F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EB4"/>
                </a:solidFill>
              </a:rPr>
              <a:t>Classificador de Ambiente  ·  IA Embarcada e Modelos Compactos  ·  SENAI Santa Catarina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6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afaelasantana-ia/classificador-de-ambiente" TargetMode="External"/><Relationship Id="rId4" Type="http://schemas.openxmlformats.org/officeDocument/2006/relationships/hyperlink" Target="https://classificador-de-ambiente.vercel.app" TargetMode="External"/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componentes" descr="/home/moas/Ambiente/apresentacao/img/component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SENAI SANTA CATARINA · PÓS-GRADUAÇÃO EM IA APLICADA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Classificador de Ambiente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Sistema embarcado inteligente com TinyML no Raspberry Pi Pico W</a:t>
            </a:r>
            <a:endParaRPr lang="en-US" sz="2000" dirty="0"/>
          </a:p>
        </p:txBody>
      </p:sp>
      <p:sp>
        <p:nvSpPr>
          <p:cNvPr id="6" name="chip-normal"/>
          <p:cNvSpPr/>
          <p:nvPr/>
        </p:nvSpPr>
        <p:spPr>
          <a:xfrm>
            <a:off x="54864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4944" y="4572000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Normal</a:t>
            </a:r>
            <a:endParaRPr lang="en-US" sz="1300" dirty="0"/>
          </a:p>
        </p:txBody>
      </p:sp>
      <p:sp>
        <p:nvSpPr>
          <p:cNvPr id="9" name="chip-presenca"/>
          <p:cNvSpPr/>
          <p:nvPr/>
        </p:nvSpPr>
        <p:spPr>
          <a:xfrm>
            <a:off x="1874520" y="443484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020824" y="4572000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203704" y="4434840"/>
            <a:ext cx="987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Presença</a:t>
            </a:r>
            <a:endParaRPr lang="en-US" sz="1300" dirty="0"/>
          </a:p>
        </p:txBody>
      </p:sp>
      <p:sp>
        <p:nvSpPr>
          <p:cNvPr id="12" name="chip-alerta"/>
          <p:cNvSpPr/>
          <p:nvPr/>
        </p:nvSpPr>
        <p:spPr>
          <a:xfrm>
            <a:off x="338328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529584" y="4572000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71246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Alerta</a:t>
            </a:r>
            <a:endParaRPr lang="en-US" sz="1300" dirty="0"/>
          </a:p>
        </p:txBody>
      </p:sp>
      <p:sp>
        <p:nvSpPr>
          <p:cNvPr id="15" name="chip-critico"/>
          <p:cNvSpPr/>
          <p:nvPr/>
        </p:nvSpPr>
        <p:spPr>
          <a:xfrm>
            <a:off x="4709160" y="44348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7342B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55464" y="4572000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38344" y="4434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Crítico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Integrantes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Rafaela Santana  ·  Miriam Aguiar  ·  Sara Coutinho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D9A24F"/>
                </a:solidFill>
              </a:rPr>
              <a:t>Professor 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Rodrigo Kobashikawa Rosa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A9BEB4"/>
                </a:solidFill>
              </a:rPr>
              <a:t>IA Embarcada e Modelos Compactos (489780)  ·  Turma PG PGIA 2025/2 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01 · 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Por que monitorar o ambiente na borda?</a:t>
            </a:r>
            <a:endParaRPr lang="en-US" sz="3400" dirty="0"/>
          </a:p>
        </p:txBody>
      </p:sp>
      <p:sp>
        <p:nvSpPr>
          <p:cNvPr id="4" name="problema-0"/>
          <p:cNvSpPr/>
          <p:nvPr/>
        </p:nvSpPr>
        <p:spPr>
          <a:xfrm>
            <a:off x="54864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5" name="icon-bg-LuCloudOff"/>
          <p:cNvSpPr/>
          <p:nvPr/>
        </p:nvSpPr>
        <p:spPr>
          <a:xfrm>
            <a:off x="822960" y="1965960"/>
            <a:ext cx="685800" cy="68580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6" name="icon-LuCloudOff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13741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Dependência da nuvem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Sem internet, a maioria dos sistemas para de alertar. Cada leitura percorre a rede antes de virar decisão.</a:t>
            </a:r>
            <a:endParaRPr lang="en-US" sz="1400" dirty="0"/>
          </a:p>
        </p:txBody>
      </p:sp>
      <p:sp>
        <p:nvSpPr>
          <p:cNvPr id="9" name="problema-1"/>
          <p:cNvSpPr/>
          <p:nvPr/>
        </p:nvSpPr>
        <p:spPr>
          <a:xfrm>
            <a:off x="429768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0" name="icon-bg-LuWallet"/>
          <p:cNvSpPr/>
          <p:nvPr/>
        </p:nvSpPr>
        <p:spPr>
          <a:xfrm>
            <a:off x="4572000" y="196596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Walle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13741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Custo e infraestrutura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Gateways, servidores e assinaturas encarecem a instalação em salas, laboratórios e almoxarifados.</a:t>
            </a:r>
            <a:endParaRPr lang="en-US" sz="1400" dirty="0"/>
          </a:p>
        </p:txBody>
      </p:sp>
      <p:sp>
        <p:nvSpPr>
          <p:cNvPr id="14" name="problema-2"/>
          <p:cNvSpPr/>
          <p:nvPr/>
        </p:nvSpPr>
        <p:spPr>
          <a:xfrm>
            <a:off x="8046720" y="169164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EEF4F0"/>
          </a:solidFill>
          <a:ln/>
        </p:spPr>
      </p:sp>
      <p:sp>
        <p:nvSpPr>
          <p:cNvPr id="15" name="icon-bg-LuThermometer"/>
          <p:cNvSpPr/>
          <p:nvPr/>
        </p:nvSpPr>
        <p:spPr>
          <a:xfrm>
            <a:off x="8321040" y="196596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hermomete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13741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7889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Regras cegas ao contexto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2004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E6F67"/>
                </a:solidFill>
              </a:rPr>
              <a:t>Um limite fixo ignora se há pessoas expostas: 32 °C com alguém presente é mais grave que em uma sala vazia.</a:t>
            </a:r>
            <a:endParaRPr lang="en-US" sz="1400" dirty="0"/>
          </a:p>
        </p:txBody>
      </p:sp>
      <p:sp>
        <p:nvSpPr>
          <p:cNvPr id="19" name="pergunta"/>
          <p:cNvSpPr/>
          <p:nvPr/>
        </p:nvSpPr>
        <p:spPr>
          <a:xfrm>
            <a:off x="548640" y="452628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0E211A"/>
          </a:solidFill>
          <a:ln/>
        </p:spPr>
      </p:sp>
      <p:sp>
        <p:nvSpPr>
          <p:cNvPr id="20" name="icon-bg-LuLightbulb"/>
          <p:cNvSpPr/>
          <p:nvPr/>
        </p:nvSpPr>
        <p:spPr>
          <a:xfrm>
            <a:off x="868680" y="493776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" y="5109210"/>
            <a:ext cx="342900" cy="3429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783080" y="47548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A24F"/>
                </a:solidFill>
              </a:rPr>
              <a:t>PERGUNTA NORTEADORA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1783080" y="50749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É possível embarcar um modelo de Machine Learning em um microcontrolador de baixo custo para classificar, em tempo real e de forma autônoma, o estado de um ambiente?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02 · OBJETIVO E 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sensor à decisão, dentro da placa</a:t>
            </a:r>
            <a:endParaRPr lang="en-US" sz="3400" dirty="0"/>
          </a:p>
        </p:txBody>
      </p:sp>
      <p:sp>
        <p:nvSpPr>
          <p:cNvPr id="4" name="fluxo-0"/>
          <p:cNvSpPr/>
          <p:nvPr/>
        </p:nvSpPr>
        <p:spPr>
          <a:xfrm>
            <a:off x="548640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5" name="icon-bg-LuRadar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Radar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9659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DHT11 + IR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456" y="2441448"/>
            <a:ext cx="274320" cy="274320"/>
          </a:xfrm>
          <a:prstGeom prst="rect">
            <a:avLst/>
          </a:prstGeom>
        </p:spPr>
      </p:pic>
      <p:sp>
        <p:nvSpPr>
          <p:cNvPr id="10" name="fluxo-1"/>
          <p:cNvSpPr/>
          <p:nvPr/>
        </p:nvSpPr>
        <p:spPr>
          <a:xfrm>
            <a:off x="2816352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11" name="icon-bg-LuActivity"/>
          <p:cNvSpPr/>
          <p:nvPr/>
        </p:nvSpPr>
        <p:spPr>
          <a:xfrm>
            <a:off x="2999232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Activity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96596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9232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Aquisição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2999232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Validação e janela de 10 leituras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3168" y="2441448"/>
            <a:ext cx="274320" cy="274320"/>
          </a:xfrm>
          <a:prstGeom prst="rect">
            <a:avLst/>
          </a:prstGeom>
        </p:spPr>
      </p:pic>
      <p:sp>
        <p:nvSpPr>
          <p:cNvPr id="16" name="fluxo-2"/>
          <p:cNvSpPr/>
          <p:nvPr/>
        </p:nvSpPr>
        <p:spPr>
          <a:xfrm>
            <a:off x="5084064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0E211A"/>
          </a:solidFill>
          <a:ln/>
        </p:spPr>
      </p:sp>
      <p:sp>
        <p:nvSpPr>
          <p:cNvPr id="17" name="icon-bg-LuCpu"/>
          <p:cNvSpPr/>
          <p:nvPr/>
        </p:nvSpPr>
        <p:spPr>
          <a:xfrm>
            <a:off x="5266944" y="182880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4104" y="196596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66944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Inferência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5266944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Decision Tree em C++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0880" y="2441448"/>
            <a:ext cx="274320" cy="274320"/>
          </a:xfrm>
          <a:prstGeom prst="rect">
            <a:avLst/>
          </a:prstGeom>
        </p:spPr>
      </p:pic>
      <p:sp>
        <p:nvSpPr>
          <p:cNvPr id="22" name="fluxo-3"/>
          <p:cNvSpPr/>
          <p:nvPr/>
        </p:nvSpPr>
        <p:spPr>
          <a:xfrm>
            <a:off x="7351776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3" name="icon-bg-LuBell"/>
          <p:cNvSpPr/>
          <p:nvPr/>
        </p:nvSpPr>
        <p:spPr>
          <a:xfrm>
            <a:off x="7534656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ell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1816" y="196596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34656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Ação</a:t>
            </a:r>
            <a:endParaRPr lang="en-US" sz="1600" dirty="0"/>
          </a:p>
        </p:txBody>
      </p:sp>
      <p:sp>
        <p:nvSpPr>
          <p:cNvPr id="26" name="Text 17"/>
          <p:cNvSpPr txBox="1"/>
          <p:nvPr/>
        </p:nvSpPr>
        <p:spPr>
          <a:xfrm>
            <a:off x="7534656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LED + buzzer 2 kHz</a:t>
            </a:r>
            <a:endParaRPr lang="en-US" sz="1200" dirty="0"/>
          </a:p>
        </p:txBody>
      </p:sp>
      <p:pic>
        <p:nvPicPr>
          <p:cNvPr id="27" name="arrow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08592" y="2441448"/>
            <a:ext cx="274320" cy="274320"/>
          </a:xfrm>
          <a:prstGeom prst="rect">
            <a:avLst/>
          </a:prstGeom>
        </p:spPr>
      </p:pic>
      <p:sp>
        <p:nvSpPr>
          <p:cNvPr id="28" name="fluxo-4"/>
          <p:cNvSpPr/>
          <p:nvPr/>
        </p:nvSpPr>
        <p:spPr>
          <a:xfrm>
            <a:off x="9619488" y="1645920"/>
            <a:ext cx="1920240" cy="1874520"/>
          </a:xfrm>
          <a:prstGeom prst="roundRect">
            <a:avLst>
              <a:gd name="adj" fmla="val 5854"/>
            </a:avLst>
          </a:prstGeom>
          <a:solidFill>
            <a:srgbClr val="EEF4F0"/>
          </a:solidFill>
          <a:ln/>
        </p:spPr>
      </p:sp>
      <p:sp>
        <p:nvSpPr>
          <p:cNvPr id="29" name="icon-bg-LuCloud"/>
          <p:cNvSpPr/>
          <p:nvPr/>
        </p:nvSpPr>
        <p:spPr>
          <a:xfrm>
            <a:off x="9802368" y="18288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30" name="icon-LuCloud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39528" y="1965960"/>
            <a:ext cx="274320" cy="274320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802368" y="251460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Nuvem</a:t>
            </a:r>
            <a:endParaRPr lang="en-US" sz="1600" dirty="0"/>
          </a:p>
        </p:txBody>
      </p:sp>
      <p:sp>
        <p:nvSpPr>
          <p:cNvPr id="32" name="Text 21"/>
          <p:cNvSpPr txBox="1"/>
          <p:nvPr/>
        </p:nvSpPr>
        <p:spPr>
          <a:xfrm>
            <a:off x="9802368" y="2834640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Supabase + painel web</a:t>
            </a:r>
            <a:endParaRPr lang="en-US" sz="1200" dirty="0"/>
          </a:p>
        </p:txBody>
      </p:sp>
      <p:sp>
        <p:nvSpPr>
          <p:cNvPr id="33" name="Text 22"/>
          <p:cNvSpPr txBox="1"/>
          <p:nvPr/>
        </p:nvSpPr>
        <p:spPr>
          <a:xfrm>
            <a:off x="548640" y="3639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Ciclo de leitura e inferência a cada 2 s  ·  envio para a nuvem a cada 10 s (opcional)</a:t>
            </a:r>
            <a:endParaRPr lang="en-US" sz="1200" dirty="0"/>
          </a:p>
        </p:txBody>
      </p:sp>
      <p:sp>
        <p:nvSpPr>
          <p:cNvPr id="34" name="classes"/>
          <p:cNvSpPr/>
          <p:nvPr/>
        </p:nvSpPr>
        <p:spPr>
          <a:xfrm>
            <a:off x="548640" y="4114800"/>
            <a:ext cx="62636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822960" y="427939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Quatro estados, por prioridade</a:t>
            </a:r>
            <a:endParaRPr lang="en-US" sz="1600" dirty="0"/>
          </a:p>
        </p:txBody>
      </p:sp>
      <p:sp>
        <p:nvSpPr>
          <p:cNvPr id="36" name="chip-critico"/>
          <p:cNvSpPr/>
          <p:nvPr/>
        </p:nvSpPr>
        <p:spPr>
          <a:xfrm>
            <a:off x="8229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7" name="Shape 26"/>
          <p:cNvSpPr/>
          <p:nvPr/>
        </p:nvSpPr>
        <p:spPr>
          <a:xfrm>
            <a:off x="969264" y="4882896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8" name="Text 27"/>
          <p:cNvSpPr txBox="1"/>
          <p:nvPr/>
        </p:nvSpPr>
        <p:spPr>
          <a:xfrm>
            <a:off x="11521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21762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Condição severa</a:t>
            </a:r>
            <a:endParaRPr lang="en-US" sz="1200" dirty="0"/>
          </a:p>
        </p:txBody>
      </p:sp>
      <p:sp>
        <p:nvSpPr>
          <p:cNvPr id="40" name="chip-alerta"/>
          <p:cNvSpPr/>
          <p:nvPr/>
        </p:nvSpPr>
        <p:spPr>
          <a:xfrm>
            <a:off x="3794760" y="47548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41" name="Shape 30"/>
          <p:cNvSpPr/>
          <p:nvPr/>
        </p:nvSpPr>
        <p:spPr>
          <a:xfrm>
            <a:off x="3941064" y="4882896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42" name="Text 31"/>
          <p:cNvSpPr txBox="1"/>
          <p:nvPr/>
        </p:nvSpPr>
        <p:spPr>
          <a:xfrm>
            <a:off x="4123944" y="4754880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43" name="Text 32"/>
          <p:cNvSpPr txBox="1"/>
          <p:nvPr/>
        </p:nvSpPr>
        <p:spPr>
          <a:xfrm>
            <a:off x="5148072" y="47548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 ≥ 30 °C ou U ≥ 80 %</a:t>
            </a:r>
            <a:endParaRPr lang="en-US" sz="1200" dirty="0"/>
          </a:p>
        </p:txBody>
      </p:sp>
      <p:sp>
        <p:nvSpPr>
          <p:cNvPr id="44" name="chip-presenca"/>
          <p:cNvSpPr/>
          <p:nvPr/>
        </p:nvSpPr>
        <p:spPr>
          <a:xfrm>
            <a:off x="8229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969264" y="5504688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6" name="Text 35"/>
          <p:cNvSpPr txBox="1"/>
          <p:nvPr/>
        </p:nvSpPr>
        <p:spPr>
          <a:xfrm>
            <a:off x="11521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7" name="Text 36"/>
          <p:cNvSpPr txBox="1"/>
          <p:nvPr/>
        </p:nvSpPr>
        <p:spPr>
          <a:xfrm>
            <a:off x="21762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Pessoa detectada</a:t>
            </a:r>
            <a:endParaRPr lang="en-US" sz="1200" dirty="0"/>
          </a:p>
        </p:txBody>
      </p:sp>
      <p:sp>
        <p:nvSpPr>
          <p:cNvPr id="48" name="chip-normal"/>
          <p:cNvSpPr/>
          <p:nvPr/>
        </p:nvSpPr>
        <p:spPr>
          <a:xfrm>
            <a:off x="3794760" y="5376672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3941064" y="5504688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50" name="Text 39"/>
          <p:cNvSpPr txBox="1"/>
          <p:nvPr/>
        </p:nvSpPr>
        <p:spPr>
          <a:xfrm>
            <a:off x="4123944" y="5376672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51" name="Text 40"/>
          <p:cNvSpPr txBox="1"/>
          <p:nvPr/>
        </p:nvSpPr>
        <p:spPr>
          <a:xfrm>
            <a:off x="5148072" y="537667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Demais casos</a:t>
            </a:r>
            <a:endParaRPr lang="en-US" sz="1200" dirty="0"/>
          </a:p>
        </p:txBody>
      </p:sp>
      <p:sp>
        <p:nvSpPr>
          <p:cNvPr id="52" name="por-que-tinyml"/>
          <p:cNvSpPr/>
          <p:nvPr/>
        </p:nvSpPr>
        <p:spPr>
          <a:xfrm>
            <a:off x="7040880" y="4114800"/>
            <a:ext cx="4572000" cy="2011680"/>
          </a:xfrm>
          <a:prstGeom prst="roundRect">
            <a:avLst>
              <a:gd name="adj" fmla="val 5455"/>
            </a:avLst>
          </a:prstGeom>
          <a:solidFill>
            <a:srgbClr val="EEF4F0"/>
          </a:solidFill>
          <a:ln/>
        </p:spPr>
      </p:sp>
      <p:sp>
        <p:nvSpPr>
          <p:cNvPr id="53" name="Text 42"/>
          <p:cNvSpPr txBox="1"/>
          <p:nvPr/>
        </p:nvSpPr>
        <p:spPr>
          <a:xfrm>
            <a:off x="7315200" y="42793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Por que TinyML?</a:t>
            </a:r>
            <a:endParaRPr lang="en-US" sz="1600" dirty="0"/>
          </a:p>
        </p:txBody>
      </p:sp>
      <p:sp>
        <p:nvSpPr>
          <p:cNvPr id="54" name="Text 43"/>
          <p:cNvSpPr txBox="1"/>
          <p:nvPr/>
        </p:nvSpPr>
        <p:spPr>
          <a:xfrm>
            <a:off x="7315200" y="4663440"/>
            <a:ext cx="4023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Latência de microssegundos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Funciona sem internet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Menos tráfego e menor custo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Dados processados no local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03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Montagem e pinagem final</a:t>
            </a:r>
            <a:endParaRPr lang="en-US" sz="3400" dirty="0"/>
          </a:p>
        </p:txBody>
      </p:sp>
      <p:pic>
        <p:nvPicPr>
          <p:cNvPr id="4" name="foto-prototipo" descr="/home/moas/Ambiente/apresentacao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3429000" cy="4572000"/>
          </a:xfrm>
          <a:prstGeom prst="rect">
            <a:avLst/>
          </a:prstGeom>
        </p:spPr>
      </p:pic>
      <p:sp>
        <p:nvSpPr>
          <p:cNvPr id="5" name="pino-0"/>
          <p:cNvSpPr/>
          <p:nvPr/>
        </p:nvSpPr>
        <p:spPr>
          <a:xfrm>
            <a:off x="4434840" y="155448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6" name="icon-bg-LuThermometer"/>
          <p:cNvSpPr/>
          <p:nvPr/>
        </p:nvSpPr>
        <p:spPr>
          <a:xfrm>
            <a:off x="4617720" y="1682496"/>
            <a:ext cx="548640" cy="54864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7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19656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349240" y="16642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DHT11 · DATA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349240" y="198424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Temperatura e umidade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9966960" y="168249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D98A52"/>
                </a:solidFill>
              </a:rPr>
              <a:t>GP2</a:t>
            </a:r>
            <a:endParaRPr lang="en-US" sz="2600" dirty="0"/>
          </a:p>
        </p:txBody>
      </p:sp>
      <p:sp>
        <p:nvSpPr>
          <p:cNvPr id="11" name="pino-1"/>
          <p:cNvSpPr/>
          <p:nvPr/>
        </p:nvSpPr>
        <p:spPr>
          <a:xfrm>
            <a:off x="4434840" y="251460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2" name="icon-bg-LuRadar"/>
          <p:cNvSpPr/>
          <p:nvPr/>
        </p:nvSpPr>
        <p:spPr>
          <a:xfrm>
            <a:off x="4617720" y="2642616"/>
            <a:ext cx="548640" cy="54864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3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779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49240" y="26243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Sensor IR · OUT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5349240" y="29443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Presença (ativo em nível baixo)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9966960" y="264261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8E7BB5"/>
                </a:solidFill>
              </a:rPr>
              <a:t>GP14</a:t>
            </a:r>
            <a:endParaRPr lang="en-US" sz="2600" dirty="0"/>
          </a:p>
        </p:txBody>
      </p:sp>
      <p:sp>
        <p:nvSpPr>
          <p:cNvPr id="17" name="pino-2"/>
          <p:cNvSpPr/>
          <p:nvPr/>
        </p:nvSpPr>
        <p:spPr>
          <a:xfrm>
            <a:off x="4434840" y="347472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18" name="icon-bg-LuLightbulb"/>
          <p:cNvSpPr/>
          <p:nvPr/>
        </p:nvSpPr>
        <p:spPr>
          <a:xfrm>
            <a:off x="4617720" y="360273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9" name="icon-LuLightbulb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739896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5349240" y="358444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LED externo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5349240" y="39044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Indicação visual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9966960" y="360273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3F8A70"/>
                </a:solidFill>
              </a:rPr>
              <a:t>GP16</a:t>
            </a:r>
            <a:endParaRPr lang="en-US" sz="2600" dirty="0"/>
          </a:p>
        </p:txBody>
      </p:sp>
      <p:sp>
        <p:nvSpPr>
          <p:cNvPr id="23" name="pino-3"/>
          <p:cNvSpPr/>
          <p:nvPr/>
        </p:nvSpPr>
        <p:spPr>
          <a:xfrm>
            <a:off x="4434840" y="4434840"/>
            <a:ext cx="7178040" cy="804672"/>
          </a:xfrm>
          <a:prstGeom prst="roundRect">
            <a:avLst>
              <a:gd name="adj" fmla="val 13636"/>
            </a:avLst>
          </a:prstGeom>
          <a:solidFill>
            <a:srgbClr val="EEF4F0"/>
          </a:solidFill>
          <a:ln/>
        </p:spPr>
      </p:sp>
      <p:sp>
        <p:nvSpPr>
          <p:cNvPr id="24" name="icon-bg-LuBell"/>
          <p:cNvSpPr/>
          <p:nvPr/>
        </p:nvSpPr>
        <p:spPr>
          <a:xfrm>
            <a:off x="4617720" y="4562856"/>
            <a:ext cx="548640" cy="54864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25" name="icon-LuBell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700016"/>
            <a:ext cx="274320" cy="27432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349240" y="454456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Buzzer passivo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5349240" y="48646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Alarme sonoro de 2 kHz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9966960" y="456285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CC665E"/>
                </a:solidFill>
              </a:rPr>
              <a:t>GP17</a:t>
            </a:r>
            <a:endParaRPr lang="en-US" sz="2600" dirty="0"/>
          </a:p>
        </p:txBody>
      </p:sp>
      <p:sp>
        <p:nvSpPr>
          <p:cNvPr id="29" name="alimentacao"/>
          <p:cNvSpPr/>
          <p:nvPr/>
        </p:nvSpPr>
        <p:spPr>
          <a:xfrm>
            <a:off x="4434840" y="5440680"/>
            <a:ext cx="7178040" cy="868680"/>
          </a:xfrm>
          <a:prstGeom prst="roundRect">
            <a:avLst>
              <a:gd name="adj" fmla="val 12632"/>
            </a:avLst>
          </a:prstGeom>
          <a:solidFill>
            <a:srgbClr val="0E211A"/>
          </a:solidFill>
          <a:ln/>
        </p:spPr>
      </p:sp>
      <p:sp>
        <p:nvSpPr>
          <p:cNvPr id="30" name="icon-bg-LuZap"/>
          <p:cNvSpPr/>
          <p:nvPr/>
        </p:nvSpPr>
        <p:spPr>
          <a:xfrm>
            <a:off x="4617720" y="559612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31" name="icon-LuZap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5733288"/>
            <a:ext cx="274320" cy="27432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349240" y="5513832"/>
            <a:ext cx="6080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3,3 V e GND comum entre todos os módulos. </a:t>
            </a:r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Um joystick testado no início saiu da montagem: menos fios, menos pontos de falha.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04 · TESTES INICIAIS · HARDWARE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Cada sensor validado antes da IA</a:t>
            </a:r>
            <a:endParaRPr lang="en-US" sz="3400" dirty="0"/>
          </a:p>
        </p:txBody>
      </p:sp>
      <p:sp>
        <p:nvSpPr>
          <p:cNvPr id="4" name="thonny-bg"/>
          <p:cNvSpPr/>
          <p:nvPr/>
        </p:nvSpPr>
        <p:spPr>
          <a:xfrm>
            <a:off x="548640" y="1600200"/>
            <a:ext cx="5943600" cy="4206240"/>
          </a:xfrm>
          <a:prstGeom prst="roundRect">
            <a:avLst>
              <a:gd name="adj" fmla="val 2609"/>
            </a:avLst>
          </a:prstGeom>
          <a:solidFill>
            <a:srgbClr val="EEF4F0"/>
          </a:solidFill>
          <a:ln/>
        </p:spPr>
      </p:sp>
      <p:pic>
        <p:nvPicPr>
          <p:cNvPr id="5" name="print-thonny" descr="/home/moas/Ambiente/apresentacao/img/validacao-sensores-thonn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5486400" cy="36484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MicroPython no Thonny: leituras do DHT11, do IR e do joystick a cada 2 s</a:t>
            </a:r>
            <a:endParaRPr lang="en-US" sz="1100" dirty="0"/>
          </a:p>
        </p:txBody>
      </p:sp>
      <p:sp>
        <p:nvSpPr>
          <p:cNvPr id="7" name="teste-0"/>
          <p:cNvSpPr/>
          <p:nvPr/>
        </p:nvSpPr>
        <p:spPr>
          <a:xfrm>
            <a:off x="6766560" y="1600200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8" name="icon-bg-LuThermometer"/>
          <p:cNvSpPr/>
          <p:nvPr/>
        </p:nvSpPr>
        <p:spPr>
          <a:xfrm>
            <a:off x="6949440" y="1801368"/>
            <a:ext cx="594360" cy="594360"/>
          </a:xfrm>
          <a:prstGeom prst="ellipse">
            <a:avLst/>
          </a:prstGeom>
          <a:solidFill>
            <a:srgbClr val="F8EADF"/>
          </a:solidFill>
          <a:ln/>
        </p:spPr>
      </p:sp>
      <p:pic>
        <p:nvPicPr>
          <p:cNvPr id="9" name="icon-LuThermometer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8030" y="1949958"/>
            <a:ext cx="297180" cy="2971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26680" y="17190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DHT11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26680" y="20116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Após ajustar o sinal para o GP2, passou a retornar temperatura e umidade de forma estável.</a:t>
            </a:r>
            <a:endParaRPr lang="en-US" sz="1200" dirty="0"/>
          </a:p>
        </p:txBody>
      </p:sp>
      <p:sp>
        <p:nvSpPr>
          <p:cNvPr id="12" name="teste-1"/>
          <p:cNvSpPr/>
          <p:nvPr/>
        </p:nvSpPr>
        <p:spPr>
          <a:xfrm>
            <a:off x="6766560" y="2807208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3" name="icon-bg-LuRadar"/>
          <p:cNvSpPr/>
          <p:nvPr/>
        </p:nvSpPr>
        <p:spPr>
          <a:xfrm>
            <a:off x="6949440" y="3008376"/>
            <a:ext cx="594360" cy="59436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4" name="icon-LuRadar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030" y="3156966"/>
            <a:ext cx="297180" cy="2971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726680" y="29260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Sensor IR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7726680" y="3218688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Descoberto que é ativo em nível baixo: IR=0 indica presença e IR=1 indica ausência. A inversão foi levada ao firmware.</a:t>
            </a:r>
            <a:endParaRPr lang="en-US" sz="1200" dirty="0"/>
          </a:p>
        </p:txBody>
      </p:sp>
      <p:sp>
        <p:nvSpPr>
          <p:cNvPr id="17" name="teste-2"/>
          <p:cNvSpPr/>
          <p:nvPr/>
        </p:nvSpPr>
        <p:spPr>
          <a:xfrm>
            <a:off x="6766560" y="4014216"/>
            <a:ext cx="4846320" cy="1069848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8" name="icon-bg-LuBell"/>
          <p:cNvSpPr/>
          <p:nvPr/>
        </p:nvSpPr>
        <p:spPr>
          <a:xfrm>
            <a:off x="6949440" y="4215384"/>
            <a:ext cx="594360" cy="59436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19" name="icon-LuBell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8030" y="4363974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726680" y="41330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LED e buzzer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726680" y="4425696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Acionados manualmente antes de integrar a lógica de classificação.</a:t>
            </a:r>
            <a:endParaRPr lang="en-US" sz="1200" dirty="0"/>
          </a:p>
        </p:txBody>
      </p:sp>
      <p:sp>
        <p:nvSpPr>
          <p:cNvPr id="22" name="resultado-hw"/>
          <p:cNvSpPr/>
          <p:nvPr/>
        </p:nvSpPr>
        <p:spPr>
          <a:xfrm>
            <a:off x="6766560" y="5257800"/>
            <a:ext cx="4846320" cy="548640"/>
          </a:xfrm>
          <a:prstGeom prst="roundRect">
            <a:avLst>
              <a:gd name="adj" fmla="val 20000"/>
            </a:avLst>
          </a:prstGeom>
          <a:solidFill>
            <a:srgbClr val="E1EFE8"/>
          </a:solidFill>
          <a:ln/>
        </p:spPr>
      </p:sp>
      <p:sp>
        <p:nvSpPr>
          <p:cNvPr id="23" name="icon-bg-LuCircleCheck"/>
          <p:cNvSpPr/>
          <p:nvPr/>
        </p:nvSpPr>
        <p:spPr>
          <a:xfrm>
            <a:off x="6903720" y="5321808"/>
            <a:ext cx="420624" cy="420624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Circle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8876" y="5426964"/>
            <a:ext cx="210312" cy="210312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452360" y="52578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8A70"/>
                </a:solidFill>
              </a:rPr>
              <a:t>Hardware validado antes do treinamento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05 · COLETA DE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235 medições reais com o próprio protótipo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235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válidas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64992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93592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8A52"/>
                </a:solidFill>
              </a:rPr>
              <a:t>79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93592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combinações únicas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6181344" y="1600200"/>
            <a:ext cx="260604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9944" y="1764792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8E7BB5"/>
                </a:solidFill>
              </a:rPr>
              <a:t>23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9944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medições com presença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8997696" y="1600200"/>
            <a:ext cx="2615184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26296" y="1764792"/>
            <a:ext cx="2157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C665E"/>
                </a:solidFill>
              </a:rPr>
              <a:t>156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26296" y="24688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repetições removidas</a:t>
            </a:r>
            <a:endParaRPr lang="en-US" sz="1300" dirty="0"/>
          </a:p>
        </p:txBody>
      </p:sp>
      <p:sp>
        <p:nvSpPr>
          <p:cNvPr id="16" name="features"/>
          <p:cNvSpPr/>
          <p:nvPr/>
        </p:nvSpPr>
        <p:spPr>
          <a:xfrm>
            <a:off x="548640" y="3200400"/>
            <a:ext cx="4572000" cy="2926080"/>
          </a:xfrm>
          <a:prstGeom prst="roundRect">
            <a:avLst>
              <a:gd name="adj" fmla="val 3750"/>
            </a:avLst>
          </a:prstGeom>
          <a:solidFill>
            <a:srgbClr val="EEF4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33832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Entradas do modelo</a:t>
            </a:r>
            <a:endParaRPr lang="en-US" sz="1600" dirty="0"/>
          </a:p>
        </p:txBody>
      </p:sp>
      <p:sp>
        <p:nvSpPr>
          <p:cNvPr id="18" name="feat-0"/>
          <p:cNvSpPr/>
          <p:nvPr/>
        </p:nvSpPr>
        <p:spPr>
          <a:xfrm>
            <a:off x="822960" y="384048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60120" y="384048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temperatura_c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697480" y="384048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50 °C</a:t>
            </a:r>
            <a:endParaRPr lang="en-US" sz="1300" dirty="0"/>
          </a:p>
        </p:txBody>
      </p:sp>
      <p:sp>
        <p:nvSpPr>
          <p:cNvPr id="21" name="feat-1"/>
          <p:cNvSpPr/>
          <p:nvPr/>
        </p:nvSpPr>
        <p:spPr>
          <a:xfrm>
            <a:off x="822960" y="438912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60120" y="43891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umidade_pct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2697480" y="438912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0 a 100 %</a:t>
            </a:r>
            <a:endParaRPr lang="en-US" sz="1300" dirty="0"/>
          </a:p>
        </p:txBody>
      </p:sp>
      <p:sp>
        <p:nvSpPr>
          <p:cNvPr id="24" name="feat-2"/>
          <p:cNvSpPr/>
          <p:nvPr/>
        </p:nvSpPr>
        <p:spPr>
          <a:xfrm>
            <a:off x="822960" y="4937760"/>
            <a:ext cx="4023360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493776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presenca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4937760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1 = detectada · 0 = ausente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" y="5577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E6F67"/>
                </a:solidFill>
              </a:rPr>
              <a:t>Conversão do IR:  IR=0 → presença=1  ·  IR=1 → presença=0</a:t>
            </a:r>
            <a:endParaRPr lang="en-US" sz="1200" dirty="0"/>
          </a:p>
        </p:txBody>
      </p:sp>
      <p:sp>
        <p:nvSpPr>
          <p:cNvPr id="28" name="rotulagem"/>
          <p:cNvSpPr/>
          <p:nvPr/>
        </p:nvSpPr>
        <p:spPr>
          <a:xfrm>
            <a:off x="5349240" y="3200400"/>
            <a:ext cx="62636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23560" y="33832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Rotulagem por prioridade (a primeira regra satisfeita vence)</a:t>
            </a:r>
            <a:endParaRPr lang="en-US" sz="1600" dirty="0"/>
          </a:p>
        </p:txBody>
      </p:sp>
      <p:sp>
        <p:nvSpPr>
          <p:cNvPr id="30" name="chip-critico"/>
          <p:cNvSpPr/>
          <p:nvPr/>
        </p:nvSpPr>
        <p:spPr>
          <a:xfrm>
            <a:off x="5623560" y="387705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6E1DF"/>
          </a:solidFill>
          <a:ln w="12700">
            <a:solidFill>
              <a:srgbClr val="CC665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69864" y="4005072"/>
            <a:ext cx="109728" cy="109728"/>
          </a:xfrm>
          <a:prstGeom prst="ellipse">
            <a:avLst/>
          </a:prstGeom>
          <a:solidFill>
            <a:srgbClr val="CC665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52744" y="387705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Crítico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995160" y="384048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35 °C ou U ≥ 90 %, ou presença com T ≥ 32 °C ou U ≥ 85 %</a:t>
            </a:r>
            <a:endParaRPr lang="en-US" sz="1300" dirty="0"/>
          </a:p>
        </p:txBody>
      </p:sp>
      <p:sp>
        <p:nvSpPr>
          <p:cNvPr id="34" name="chip-alerta"/>
          <p:cNvSpPr/>
          <p:nvPr/>
        </p:nvSpPr>
        <p:spPr>
          <a:xfrm>
            <a:off x="5623560" y="442569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7EDDA"/>
          </a:solidFill>
          <a:ln w="12700">
            <a:solidFill>
              <a:srgbClr val="D9A24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69864" y="4553712"/>
            <a:ext cx="109728" cy="109728"/>
          </a:xfrm>
          <a:prstGeom prst="ellipse">
            <a:avLst/>
          </a:prstGeom>
          <a:solidFill>
            <a:srgbClr val="D9A24F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952744" y="442569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A24F"/>
                </a:solidFill>
              </a:rPr>
              <a:t>Alerta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995160" y="438912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T ≥ 30 °C ou U ≥ 80 %</a:t>
            </a:r>
            <a:endParaRPr lang="en-US" sz="1300" dirty="0"/>
          </a:p>
        </p:txBody>
      </p:sp>
      <p:sp>
        <p:nvSpPr>
          <p:cNvPr id="38" name="chip-presenca"/>
          <p:cNvSpPr/>
          <p:nvPr/>
        </p:nvSpPr>
        <p:spPr>
          <a:xfrm>
            <a:off x="5623560" y="497433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CE8F4"/>
          </a:solidFill>
          <a:ln w="12700">
            <a:solidFill>
              <a:srgbClr val="8E7B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769864" y="5102352"/>
            <a:ext cx="109728" cy="109728"/>
          </a:xfrm>
          <a:prstGeom prst="ellipse">
            <a:avLst/>
          </a:prstGeom>
          <a:solidFill>
            <a:srgbClr val="8E7BB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52744" y="497433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7BB5"/>
                </a:solidFill>
              </a:rPr>
              <a:t>Presença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995160" y="493776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Presença detectada, sem condição anterior</a:t>
            </a:r>
            <a:endParaRPr lang="en-US" sz="1300" dirty="0"/>
          </a:p>
        </p:txBody>
      </p:sp>
      <p:sp>
        <p:nvSpPr>
          <p:cNvPr id="42" name="chip-normal"/>
          <p:cNvSpPr/>
          <p:nvPr/>
        </p:nvSpPr>
        <p:spPr>
          <a:xfrm>
            <a:off x="5623560" y="5522976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E1EFE8"/>
          </a:solidFill>
          <a:ln w="12700">
            <a:solidFill>
              <a:srgbClr val="3F8A7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769864" y="5650992"/>
            <a:ext cx="109728" cy="109728"/>
          </a:xfrm>
          <a:prstGeom prst="ellipse">
            <a:avLst/>
          </a:prstGeom>
          <a:solidFill>
            <a:srgbClr val="3F8A7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952744" y="5522976"/>
            <a:ext cx="850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Normal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6995160" y="54864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Demais leituras válidas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06 · TESTES INICIAIS ·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 primeira versão revelou os problemas</a:t>
            </a:r>
            <a:endParaRPr lang="en-US" sz="3400" dirty="0"/>
          </a:p>
        </p:txBody>
      </p:sp>
      <p:graphicFrame>
        <p:nvGraphicFramePr>
          <p:cNvPr id="4" name="grafico-v1" descr=""/>
          <p:cNvGraphicFramePr/>
          <p:nvPr/>
        </p:nvGraphicFramePr>
        <p:xfrm>
          <a:off x="548640" y="1600200"/>
          <a:ext cx="548640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achado-0"/>
          <p:cNvSpPr/>
          <p:nvPr/>
        </p:nvSpPr>
        <p:spPr>
          <a:xfrm>
            <a:off x="6355080" y="1600200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6" name="icon-bg-LuTriangleAlert"/>
          <p:cNvSpPr/>
          <p:nvPr/>
        </p:nvSpPr>
        <p:spPr>
          <a:xfrm>
            <a:off x="6537960" y="1792224"/>
            <a:ext cx="640080" cy="640080"/>
          </a:xfrm>
          <a:prstGeom prst="ellipse">
            <a:avLst/>
          </a:prstGeom>
          <a:solidFill>
            <a:srgbClr val="F6E1DF"/>
          </a:solidFill>
          <a:ln/>
        </p:spPr>
      </p:sp>
      <p:pic>
        <p:nvPicPr>
          <p:cNvPr id="7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952244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60920" y="171907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F1 macro de apenas 0,73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360920" y="202996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com 17 nós; Random Forest e MLP também ficaram abaixo de 0,76.</a:t>
            </a:r>
            <a:endParaRPr lang="en-US" sz="1200" dirty="0"/>
          </a:p>
        </p:txBody>
      </p:sp>
      <p:sp>
        <p:nvSpPr>
          <p:cNvPr id="10" name="achado-1"/>
          <p:cNvSpPr/>
          <p:nvPr/>
        </p:nvSpPr>
        <p:spPr>
          <a:xfrm>
            <a:off x="6355080" y="2761488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1" name="icon-bg-LuSearch"/>
          <p:cNvSpPr/>
          <p:nvPr/>
        </p:nvSpPr>
        <p:spPr>
          <a:xfrm>
            <a:off x="6537960" y="2953512"/>
            <a:ext cx="640080" cy="64008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2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980" y="3113532"/>
            <a:ext cx="320040" cy="3200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60920" y="28803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Só 5 exemplos da classe presença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60920" y="319125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A validação teve de usar 2 folds; o teste tinha 20 amostras e apenas 1 de presença.</a:t>
            </a:r>
            <a:endParaRPr lang="en-US" sz="1200" dirty="0"/>
          </a:p>
        </p:txBody>
      </p:sp>
      <p:sp>
        <p:nvSpPr>
          <p:cNvPr id="15" name="achado-2"/>
          <p:cNvSpPr/>
          <p:nvPr/>
        </p:nvSpPr>
        <p:spPr>
          <a:xfrm>
            <a:off x="6355080" y="3922776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16" name="icon-bg-LuThermometer"/>
          <p:cNvSpPr/>
          <p:nvPr/>
        </p:nvSpPr>
        <p:spPr>
          <a:xfrm>
            <a:off x="6537960" y="4114800"/>
            <a:ext cx="640080" cy="64008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7" name="icon-LuThermomete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27482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360920" y="404164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Nenhuma leitura com T ≥ 35 °C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7360920" y="435254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Uma árvore não aprende um limiar que nunca viu: divergia das regras em 23 % da grade de entradas.</a:t>
            </a:r>
            <a:endParaRPr lang="en-US" sz="1200" dirty="0"/>
          </a:p>
        </p:txBody>
      </p:sp>
      <p:sp>
        <p:nvSpPr>
          <p:cNvPr id="20" name="achado-3"/>
          <p:cNvSpPr/>
          <p:nvPr/>
        </p:nvSpPr>
        <p:spPr>
          <a:xfrm>
            <a:off x="6355080" y="5084064"/>
            <a:ext cx="5257800" cy="1024128"/>
          </a:xfrm>
          <a:prstGeom prst="roundRect">
            <a:avLst>
              <a:gd name="adj" fmla="val 10714"/>
            </a:avLst>
          </a:prstGeom>
          <a:solidFill>
            <a:srgbClr val="EEF4F0"/>
          </a:solidFill>
          <a:ln/>
        </p:spPr>
      </p:sp>
      <p:sp>
        <p:nvSpPr>
          <p:cNvPr id="21" name="icon-bg-LuTarget"/>
          <p:cNvSpPr/>
          <p:nvPr/>
        </p:nvSpPr>
        <p:spPr>
          <a:xfrm>
            <a:off x="6537960" y="5276088"/>
            <a:ext cx="640080" cy="64008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22" name="icon-LuTarge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7980" y="5436108"/>
            <a:ext cx="320040" cy="32004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60920" y="52029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100 % no teste não provava nada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360920" y="55138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Com 20 amostras únicas, o acerto total era estatisticamente frágil.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07 · EVOLUÇÃO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teste inicial à versão final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374904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E6F67"/>
                </a:solidFill>
              </a:rPr>
              <a:t>VERSÃO INICIAL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989320" y="1600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F8A70"/>
                </a:solidFill>
              </a:rPr>
              <a:t>VERSÃO FINAL</a:t>
            </a:r>
            <a:endParaRPr lang="en-US" sz="1100" dirty="0"/>
          </a:p>
        </p:txBody>
      </p:sp>
      <p:sp>
        <p:nvSpPr>
          <p:cNvPr id="6" name="evo-0"/>
          <p:cNvSpPr/>
          <p:nvPr/>
        </p:nvSpPr>
        <p:spPr>
          <a:xfrm>
            <a:off x="548640" y="1965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965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Registros no dataset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235</a:t>
            </a:r>
            <a:endParaRPr lang="en-US" sz="15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2084832"/>
            <a:ext cx="256032" cy="25603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989320" y="1965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1.000</a:t>
            </a:r>
            <a:endParaRPr lang="en-US" sz="1500" dirty="0"/>
          </a:p>
        </p:txBody>
      </p:sp>
      <p:sp>
        <p:nvSpPr>
          <p:cNvPr id="11" name="evo-1"/>
          <p:cNvSpPr/>
          <p:nvPr/>
        </p:nvSpPr>
        <p:spPr>
          <a:xfrm>
            <a:off x="548640" y="26517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26517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Combinações únicas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74904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79</a:t>
            </a:r>
            <a:endParaRPr lang="en-US" sz="1500" dirty="0"/>
          </a:p>
        </p:txBody>
      </p:sp>
      <p:pic>
        <p:nvPicPr>
          <p:cNvPr id="14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770632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89320" y="26517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844</a:t>
            </a:r>
            <a:endParaRPr lang="en-US" sz="1500" dirty="0"/>
          </a:p>
        </p:txBody>
      </p:sp>
      <p:sp>
        <p:nvSpPr>
          <p:cNvPr id="16" name="evo-2"/>
          <p:cNvSpPr/>
          <p:nvPr/>
        </p:nvSpPr>
        <p:spPr>
          <a:xfrm>
            <a:off x="548640" y="33375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77240" y="33375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Exemplos por classe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74904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5 a 135</a:t>
            </a:r>
            <a:endParaRPr lang="en-US" sz="1500" dirty="0"/>
          </a:p>
        </p:txBody>
      </p:sp>
      <p:pic>
        <p:nvPicPr>
          <p:cNvPr id="19" name="arrow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45643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989320" y="33375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250 cada</a:t>
            </a:r>
            <a:endParaRPr lang="en-US" sz="1500" dirty="0"/>
          </a:p>
        </p:txBody>
      </p:sp>
      <p:sp>
        <p:nvSpPr>
          <p:cNvPr id="21" name="evo-3"/>
          <p:cNvSpPr/>
          <p:nvPr/>
        </p:nvSpPr>
        <p:spPr>
          <a:xfrm>
            <a:off x="548640" y="40233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777240" y="40233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Validação cruzada</a:t>
            </a:r>
            <a:endParaRPr lang="en-US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374904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 folds</a:t>
            </a:r>
            <a:endParaRPr lang="en-US" sz="1500" dirty="0"/>
          </a:p>
        </p:txBody>
      </p:sp>
      <p:pic>
        <p:nvPicPr>
          <p:cNvPr id="24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0" y="4142232"/>
            <a:ext cx="256032" cy="25603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989320" y="40233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5 folds</a:t>
            </a:r>
            <a:endParaRPr lang="en-US" sz="1500" dirty="0"/>
          </a:p>
        </p:txBody>
      </p:sp>
      <p:sp>
        <p:nvSpPr>
          <p:cNvPr id="26" name="evo-4"/>
          <p:cNvSpPr/>
          <p:nvPr/>
        </p:nvSpPr>
        <p:spPr>
          <a:xfrm>
            <a:off x="548640" y="47091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EEF4F0"/>
          </a:solidFill>
          <a:ln/>
        </p:spPr>
      </p:sp>
      <p:sp>
        <p:nvSpPr>
          <p:cNvPr id="27" name="Text 21"/>
          <p:cNvSpPr txBox="1"/>
          <p:nvPr/>
        </p:nvSpPr>
        <p:spPr>
          <a:xfrm>
            <a:off x="777240" y="47091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Amostras de teste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374904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20</a:t>
            </a:r>
            <a:endParaRPr lang="en-US" sz="1500" dirty="0"/>
          </a:p>
        </p:txBody>
      </p:sp>
      <p:pic>
        <p:nvPicPr>
          <p:cNvPr id="29" name="arrow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4828032"/>
            <a:ext cx="256032" cy="25603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5989320" y="47091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127</a:t>
            </a:r>
            <a:endParaRPr lang="en-US" sz="1500" dirty="0"/>
          </a:p>
        </p:txBody>
      </p:sp>
      <p:sp>
        <p:nvSpPr>
          <p:cNvPr id="31" name="evo-5"/>
          <p:cNvSpPr/>
          <p:nvPr/>
        </p:nvSpPr>
        <p:spPr>
          <a:xfrm>
            <a:off x="548640" y="5394960"/>
            <a:ext cx="7269480" cy="493776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777240" y="5394960"/>
            <a:ext cx="2926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5291F"/>
                </a:solidFill>
              </a:rPr>
              <a:t>Árvore de decisão</a:t>
            </a:r>
            <a:endParaRPr lang="en-US" sz="1400" dirty="0"/>
          </a:p>
        </p:txBody>
      </p:sp>
      <p:sp>
        <p:nvSpPr>
          <p:cNvPr id="33" name="Text 26"/>
          <p:cNvSpPr txBox="1"/>
          <p:nvPr/>
        </p:nvSpPr>
        <p:spPr>
          <a:xfrm>
            <a:off x="374904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E6F67"/>
                </a:solidFill>
              </a:rPr>
              <a:t>17 nós</a:t>
            </a:r>
            <a:endParaRPr lang="en-US" sz="1500" dirty="0"/>
          </a:p>
        </p:txBody>
      </p:sp>
      <p:pic>
        <p:nvPicPr>
          <p:cNvPr id="34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0" y="5513832"/>
            <a:ext cx="256032" cy="25603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989320" y="5394960"/>
            <a:ext cx="1737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25 nós</a:t>
            </a:r>
            <a:endParaRPr lang="en-US" sz="1500" dirty="0"/>
          </a:p>
        </p:txBody>
      </p:sp>
      <p:sp>
        <p:nvSpPr>
          <p:cNvPr id="36" name="f1-evolucao"/>
          <p:cNvSpPr/>
          <p:nvPr/>
        </p:nvSpPr>
        <p:spPr>
          <a:xfrm>
            <a:off x="8229600" y="1600200"/>
            <a:ext cx="3383280" cy="2514600"/>
          </a:xfrm>
          <a:prstGeom prst="roundRect">
            <a:avLst>
              <a:gd name="adj" fmla="val 4364"/>
            </a:avLst>
          </a:prstGeom>
          <a:solidFill>
            <a:srgbClr val="0E211A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850392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F1 MACRO DA ÁRVORE</a:t>
            </a:r>
            <a:endParaRPr lang="en-US" sz="1100" dirty="0"/>
          </a:p>
        </p:txBody>
      </p:sp>
      <p:sp>
        <p:nvSpPr>
          <p:cNvPr id="38" name="Text 30"/>
          <p:cNvSpPr txBox="1"/>
          <p:nvPr/>
        </p:nvSpPr>
        <p:spPr>
          <a:xfrm>
            <a:off x="8503920" y="21945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9BEB4"/>
                </a:solidFill>
              </a:rPr>
              <a:t>0,73</a:t>
            </a:r>
            <a:pPr indent="0" marL="0">
              <a:buNone/>
            </a:pPr>
            <a:r>
              <a:rPr lang="en-US" sz="2400" dirty="0">
                <a:solidFill>
                  <a:srgbClr val="A9BEB4"/>
                </a:solidFill>
              </a:rPr>
              <a:t>  →  </a:t>
            </a:r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0,99</a:t>
            </a:r>
            <a:endParaRPr lang="en-US" sz="1400" dirty="0"/>
          </a:p>
        </p:txBody>
      </p:sp>
      <p:sp>
        <p:nvSpPr>
          <p:cNvPr id="39" name="Text 31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validação cruzada, antes e depois da expansão do dataset</a:t>
            </a:r>
            <a:endParaRPr lang="en-US" sz="1200" dirty="0"/>
          </a:p>
        </p:txBody>
      </p:sp>
      <p:sp>
        <p:nvSpPr>
          <p:cNvPr id="40" name="o-que-mudou"/>
          <p:cNvSpPr/>
          <p:nvPr/>
        </p:nvSpPr>
        <p:spPr>
          <a:xfrm>
            <a:off x="8229600" y="42976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1EFE8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8503920" y="4434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F8A70"/>
                </a:solidFill>
              </a:rPr>
              <a:t>O que mudou</a:t>
            </a:r>
            <a:endParaRPr lang="en-US" sz="1500" dirty="0"/>
          </a:p>
        </p:txBody>
      </p:sp>
      <p:sp>
        <p:nvSpPr>
          <p:cNvPr id="42" name="Text 34"/>
          <p:cNvSpPr txBox="1"/>
          <p:nvPr/>
        </p:nvSpPr>
        <p:spPr>
          <a:xfrm>
            <a:off x="8503920" y="4773168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5291F"/>
                </a:solidFill>
              </a:rPr>
              <a:t>Dados sintéticos concentrados perto dos limiares, identificados pela coluna origem; split 70/15/15 e conjunto extra de generalização.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08 · ESCOLHA DO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Cinco modelos comparados, um escolhido</a:t>
            </a:r>
            <a:endParaRPr lang="en-US" sz="3400" dirty="0"/>
          </a:p>
        </p:txBody>
      </p:sp>
      <p:graphicFrame>
        <p:nvGraphicFramePr>
          <p:cNvPr id="4" name="grafico-modelos" descr=""/>
          <p:cNvGraphicFramePr/>
          <p:nvPr/>
        </p:nvGraphicFramePr>
        <p:xfrm>
          <a:off x="548640" y="1600200"/>
          <a:ext cx="60350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elecionado"/>
          <p:cNvSpPr/>
          <p:nvPr/>
        </p:nvSpPr>
        <p:spPr>
          <a:xfrm>
            <a:off x="6903720" y="1600200"/>
            <a:ext cx="4709160" cy="1417320"/>
          </a:xfrm>
          <a:prstGeom prst="roundRect">
            <a:avLst>
              <a:gd name="adj" fmla="val 7742"/>
            </a:avLst>
          </a:prstGeom>
          <a:solidFill>
            <a:srgbClr val="0E21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178040" y="17556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9A24F"/>
                </a:solidFill>
              </a:rPr>
              <a:t>MODELO SELECIONADO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178040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Decision Tree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7178040" y="25420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25 nós · profundidade 4 · ≤ 4 comparações</a:t>
            </a:r>
            <a:endParaRPr lang="en-US" sz="1300" dirty="0"/>
          </a:p>
        </p:txBody>
      </p:sp>
      <p:sp>
        <p:nvSpPr>
          <p:cNvPr id="9" name="motivo-0"/>
          <p:cNvSpPr/>
          <p:nvPr/>
        </p:nvSpPr>
        <p:spPr>
          <a:xfrm>
            <a:off x="6903720" y="3200400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0" name="icon-bg-LuLayers"/>
          <p:cNvSpPr/>
          <p:nvPr/>
        </p:nvSpPr>
        <p:spPr>
          <a:xfrm>
            <a:off x="7059168" y="3355848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con-LuLayers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328" y="3493008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0" y="32918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47× menos memória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0" y="3584448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Empata com a Random Forest no teste (0,993) com 400 B contra 18.944 B.</a:t>
            </a:r>
            <a:endParaRPr lang="en-US" sz="1200" dirty="0"/>
          </a:p>
        </p:txBody>
      </p:sp>
      <p:sp>
        <p:nvSpPr>
          <p:cNvPr id="14" name="motivo-1"/>
          <p:cNvSpPr/>
          <p:nvPr/>
        </p:nvSpPr>
        <p:spPr>
          <a:xfrm>
            <a:off x="6903720" y="4187952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15" name="icon-bg-LuSearch"/>
          <p:cNvSpPr/>
          <p:nvPr/>
        </p:nvSpPr>
        <p:spPr>
          <a:xfrm>
            <a:off x="7059168" y="434340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con-LuSearch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328" y="448056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772400" y="4279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Interpretável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7772400" y="45720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Cada decisão é uma sequência de comparações legíveis.</a:t>
            </a:r>
            <a:endParaRPr lang="en-US" sz="1200" dirty="0"/>
          </a:p>
        </p:txBody>
      </p:sp>
      <p:sp>
        <p:nvSpPr>
          <p:cNvPr id="19" name="motivo-2"/>
          <p:cNvSpPr/>
          <p:nvPr/>
        </p:nvSpPr>
        <p:spPr>
          <a:xfrm>
            <a:off x="6903720" y="5175504"/>
            <a:ext cx="4709160" cy="868680"/>
          </a:xfrm>
          <a:prstGeom prst="roundRect">
            <a:avLst>
              <a:gd name="adj" fmla="val 12632"/>
            </a:avLst>
          </a:prstGeom>
          <a:solidFill>
            <a:srgbClr val="EEF4F0"/>
          </a:solidFill>
          <a:ln/>
        </p:spPr>
      </p:sp>
      <p:sp>
        <p:nvSpPr>
          <p:cNvPr id="20" name="icon-bg-LuGauge"/>
          <p:cNvSpPr/>
          <p:nvPr/>
        </p:nvSpPr>
        <p:spPr>
          <a:xfrm>
            <a:off x="7059168" y="5330952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1" name="icon-LuGaug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5468112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772400" y="52669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Sem normalização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0" y="555955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Usa as unidades físicas direto, sem pré-processamento na placa.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09 · COMPRESSÃO DO MODELO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ensemble a 400 bytes, sem perder desempenho</a:t>
            </a:r>
            <a:endParaRPr lang="en-US" sz="3400" dirty="0"/>
          </a:p>
        </p:txBody>
      </p:sp>
      <p:sp>
        <p:nvSpPr>
          <p:cNvPr id="4" name="poda"/>
          <p:cNvSpPr/>
          <p:nvPr/>
        </p:nvSpPr>
        <p:spPr>
          <a:xfrm>
            <a:off x="548640" y="1600200"/>
            <a:ext cx="58064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830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Poda por profundidade máxima</a:t>
            </a:r>
            <a:endParaRPr lang="en-US" sz="1800" dirty="0"/>
          </a:p>
        </p:txBody>
      </p:sp>
      <p:graphicFrame>
        <p:nvGraphicFramePr>
          <p:cNvPr id="8" name="grafico-poda" descr=""/>
          <p:cNvGraphicFramePr/>
          <p:nvPr/>
        </p:nvGraphicFramePr>
        <p:xfrm>
          <a:off x="731520" y="2331720"/>
          <a:ext cx="54406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822960" y="53492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A profundidade 4 é o menor tamanho com desempenho máximo: acima dela, a árvore para de crescer.</a:t>
            </a:r>
            <a:endParaRPr lang="en-US" sz="1300" dirty="0"/>
          </a:p>
        </p:txBody>
      </p:sp>
      <p:sp>
        <p:nvSpPr>
          <p:cNvPr id="10" name="compacto"/>
          <p:cNvSpPr/>
          <p:nvPr/>
        </p:nvSpPr>
        <p:spPr>
          <a:xfrm>
            <a:off x="6537960" y="1600200"/>
            <a:ext cx="5074920" cy="2148840"/>
          </a:xfrm>
          <a:prstGeom prst="roundRect">
            <a:avLst>
              <a:gd name="adj" fmla="val 5106"/>
            </a:avLst>
          </a:prstGeom>
          <a:solidFill>
            <a:srgbClr val="0E211A"/>
          </a:solidFill>
          <a:ln/>
        </p:spPr>
      </p:sp>
      <p:sp>
        <p:nvSpPr>
          <p:cNvPr id="11" name="Shape 8"/>
          <p:cNvSpPr/>
          <p:nvPr/>
        </p:nvSpPr>
        <p:spPr>
          <a:xfrm>
            <a:off x="6766560" y="1783080"/>
            <a:ext cx="457200" cy="457200"/>
          </a:xfrm>
          <a:prstGeom prst="ellipse">
            <a:avLst/>
          </a:prstGeom>
          <a:solidFill>
            <a:srgbClr val="21453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76656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17830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Modelo compacto no lugar do ensemble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812280" y="23317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9BEB4"/>
                </a:solidFill>
              </a:rPr>
              <a:t>18.944 B</a:t>
            </a:r>
            <a:pPr indent="0" marL="0">
              <a:buNone/>
            </a:pPr>
            <a:r>
              <a:rPr lang="en-US" sz="2200" dirty="0">
                <a:solidFill>
                  <a:srgbClr val="A9BEB4"/>
                </a:solidFill>
              </a:rPr>
              <a:t>  →  </a:t>
            </a:r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400 B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3090672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</a:rPr>
              <a:t>Random Forest (32 árvores) → uma árvore: 47× menor, mesmo F1 no teste (0,993)</a:t>
            </a:r>
            <a:endParaRPr lang="en-US" sz="1300" dirty="0"/>
          </a:p>
        </p:txBody>
      </p:sp>
      <p:sp>
        <p:nvSpPr>
          <p:cNvPr id="16" name="sem-runtime"/>
          <p:cNvSpPr/>
          <p:nvPr/>
        </p:nvSpPr>
        <p:spPr>
          <a:xfrm>
            <a:off x="6537960" y="3931920"/>
            <a:ext cx="5074920" cy="2194560"/>
          </a:xfrm>
          <a:prstGeom prst="roundRect">
            <a:avLst>
              <a:gd name="adj" fmla="val 5000"/>
            </a:avLst>
          </a:prstGeom>
          <a:solidFill>
            <a:srgbClr val="EEF4F0"/>
          </a:solidFill>
          <a:ln/>
        </p:spPr>
      </p:sp>
      <p:sp>
        <p:nvSpPr>
          <p:cNvPr id="17" name="Shape 14"/>
          <p:cNvSpPr/>
          <p:nvPr/>
        </p:nvSpPr>
        <p:spPr>
          <a:xfrm>
            <a:off x="6766560" y="4114800"/>
            <a:ext cx="457200" cy="45720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656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91F"/>
                </a:solidFill>
              </a:rPr>
              <a:t>Conversão sem runtime de ML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812280" y="4709160"/>
            <a:ext cx="4617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5291F"/>
                </a:solidFill>
              </a:rPr>
              <a:t>Árvore convertida em C++ puro: sem TFLite Micro e sem tensor arena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5291F"/>
                </a:solidFill>
              </a:rPr>
              <a:t>No máximo 4 comparações por inferência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15291F"/>
                </a:solidFill>
              </a:rPr>
              <a:t>Saída idêntica ao Python em 13.224 casos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617220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E6F67"/>
                </a:solidFill>
              </a:rPr>
              <a:t>Tamanhos em bytes: estimativa estrutural dos parâmetros numéricos (16 B por nó de árvore).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10 · RESULTADOS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Teste reservado com 127 combinações inéditas</a:t>
            </a:r>
            <a:endParaRPr lang="en-US" sz="3400" dirty="0"/>
          </a:p>
        </p:txBody>
      </p:sp>
      <p:sp>
        <p:nvSpPr>
          <p:cNvPr id="4" name="stat"/>
          <p:cNvSpPr/>
          <p:nvPr/>
        </p:nvSpPr>
        <p:spPr>
          <a:xfrm>
            <a:off x="54864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accuracy</a:t>
            </a:r>
            <a:endParaRPr lang="en-US" sz="1300" dirty="0"/>
          </a:p>
        </p:txBody>
      </p:sp>
      <p:sp>
        <p:nvSpPr>
          <p:cNvPr id="7" name="stat"/>
          <p:cNvSpPr/>
          <p:nvPr/>
        </p:nvSpPr>
        <p:spPr>
          <a:xfrm>
            <a:off x="3383280" y="160020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11880" y="176479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F8A70"/>
                </a:solidFill>
              </a:rPr>
              <a:t>99,3 %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1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F1 macro</a:t>
            </a:r>
            <a:endParaRPr lang="en-US" sz="1300" dirty="0"/>
          </a:p>
        </p:txBody>
      </p:sp>
      <p:sp>
        <p:nvSpPr>
          <p:cNvPr id="10" name="stat"/>
          <p:cNvSpPr/>
          <p:nvPr/>
        </p:nvSpPr>
        <p:spPr>
          <a:xfrm>
            <a:off x="54864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6E1D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C665E"/>
                </a:solidFill>
              </a:rPr>
              <a:t>97,1 %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recall da classe crítica</a:t>
            </a:r>
            <a:endParaRPr lang="en-US" sz="1300" dirty="0"/>
          </a:p>
        </p:txBody>
      </p:sp>
      <p:sp>
        <p:nvSpPr>
          <p:cNvPr id="13" name="stat"/>
          <p:cNvSpPr/>
          <p:nvPr/>
        </p:nvSpPr>
        <p:spPr>
          <a:xfrm>
            <a:off x="3383280" y="31089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ECE8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11880" y="327355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E7BB5"/>
                </a:solidFill>
              </a:rPr>
              <a:t>98,2 %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3977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concordância com as regras em 20.000 entradas</a:t>
            </a:r>
            <a:endParaRPr lang="en-US" sz="1300" dirty="0"/>
          </a:p>
        </p:txBody>
      </p:sp>
      <p:sp>
        <p:nvSpPr>
          <p:cNvPr id="16" name="unico-erro"/>
          <p:cNvSpPr/>
          <p:nvPr/>
        </p:nvSpPr>
        <p:spPr>
          <a:xfrm>
            <a:off x="548640" y="461772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0E211A"/>
          </a:solidFill>
          <a:ln/>
        </p:spPr>
      </p:sp>
      <p:sp>
        <p:nvSpPr>
          <p:cNvPr id="17" name="icon-bg-LuShieldCheck"/>
          <p:cNvSpPr/>
          <p:nvPr/>
        </p:nvSpPr>
        <p:spPr>
          <a:xfrm>
            <a:off x="822960" y="4983480"/>
            <a:ext cx="685800" cy="6858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8" name="icon-LuShield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5154930"/>
            <a:ext cx="342900" cy="34290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737360" y="475488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Único erro: 1 caso crítico previsto como alerta, que ainda aciona LED e buzzer.</a:t>
            </a:r>
            <a:endParaRPr lang="en-US" sz="1500" dirty="0"/>
          </a:p>
        </p:txBody>
      </p:sp>
      <p:sp>
        <p:nvSpPr>
          <p:cNvPr id="20" name="matriz-bg"/>
          <p:cNvSpPr/>
          <p:nvPr/>
        </p:nvSpPr>
        <p:spPr>
          <a:xfrm>
            <a:off x="6400800" y="1600200"/>
            <a:ext cx="52120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75120" y="1783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Matriz de confusão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667512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6F67"/>
                </a:solidFill>
              </a:rPr>
              <a:t>linhas: classe real · colunas: classe prevista</a:t>
            </a:r>
            <a:endParaRPr lang="en-US" sz="1100" dirty="0"/>
          </a:p>
        </p:txBody>
      </p:sp>
      <p:graphicFrame>
        <p:nvGraphicFramePr>
          <p:cNvPr id="12" name="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560320"/>
          <a:ext cx="46634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914400"/>
                <a:gridCol w="914400"/>
                <a:gridCol w="914400"/>
              </a:tblGrid>
              <a:tr h="6217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CC66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1D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Presença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5E6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A7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11 · EXPORTAÇÃO PARA C++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scikit-learn ao firmware, sem bibliotecas de ML</a:t>
            </a:r>
            <a:endParaRPr lang="en-US" sz="3400" dirty="0"/>
          </a:p>
        </p:txBody>
      </p:sp>
      <p:sp>
        <p:nvSpPr>
          <p:cNvPr id="4" name="exp-0"/>
          <p:cNvSpPr/>
          <p:nvPr/>
        </p:nvSpPr>
        <p:spPr>
          <a:xfrm>
            <a:off x="54864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5" name="icon-bg-LuFlaskConical"/>
          <p:cNvSpPr/>
          <p:nvPr/>
        </p:nvSpPr>
        <p:spPr>
          <a:xfrm>
            <a:off x="71323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con-LuFlaskConica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202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8988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scikit-learn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38988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Árvore treinada</a:t>
            </a:r>
            <a:endParaRPr lang="en-US" sz="1200" dirty="0"/>
          </a:p>
        </p:txBody>
      </p:sp>
      <p:pic>
        <p:nvPicPr>
          <p:cNvPr id="9" name="arrow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5808" y="1920240"/>
            <a:ext cx="274320" cy="274320"/>
          </a:xfrm>
          <a:prstGeom prst="rect">
            <a:avLst/>
          </a:prstGeom>
        </p:spPr>
      </p:pic>
      <p:sp>
        <p:nvSpPr>
          <p:cNvPr id="10" name="exp-1"/>
          <p:cNvSpPr/>
          <p:nvPr/>
        </p:nvSpPr>
        <p:spPr>
          <a:xfrm>
            <a:off x="338328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1" name="icon-bg-LuCode"/>
          <p:cNvSpPr/>
          <p:nvPr/>
        </p:nvSpPr>
        <p:spPr>
          <a:xfrm>
            <a:off x="354787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2" name="icon-LuCod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5032" y="19202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22452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model_data.h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22452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if/else gerado</a:t>
            </a:r>
            <a:endParaRPr lang="en-US" sz="1200" dirty="0"/>
          </a:p>
        </p:txBody>
      </p:sp>
      <p:pic>
        <p:nvPicPr>
          <p:cNvPr id="15" name="arrow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920240"/>
            <a:ext cx="274320" cy="274320"/>
          </a:xfrm>
          <a:prstGeom prst="rect">
            <a:avLst/>
          </a:prstGeom>
        </p:spPr>
      </p:pic>
      <p:sp>
        <p:nvSpPr>
          <p:cNvPr id="16" name="exp-2"/>
          <p:cNvSpPr/>
          <p:nvPr/>
        </p:nvSpPr>
        <p:spPr>
          <a:xfrm>
            <a:off x="621792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17" name="icon-bg-LuMicrochip"/>
          <p:cNvSpPr/>
          <p:nvPr/>
        </p:nvSpPr>
        <p:spPr>
          <a:xfrm>
            <a:off x="638251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con-LuMicrochi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1920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05916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main.cpp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705916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+ inferência</a:t>
            </a:r>
            <a:endParaRPr lang="en-US" sz="1200" dirty="0"/>
          </a:p>
        </p:txBody>
      </p:sp>
      <p:pic>
        <p:nvPicPr>
          <p:cNvPr id="21" name="arrow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1920240"/>
            <a:ext cx="274320" cy="274320"/>
          </a:xfrm>
          <a:prstGeom prst="rect">
            <a:avLst/>
          </a:prstGeom>
        </p:spPr>
      </p:pic>
      <p:sp>
        <p:nvSpPr>
          <p:cNvPr id="22" name="exp-3"/>
          <p:cNvSpPr/>
          <p:nvPr/>
        </p:nvSpPr>
        <p:spPr>
          <a:xfrm>
            <a:off x="9052560" y="1600200"/>
            <a:ext cx="2423160" cy="914400"/>
          </a:xfrm>
          <a:prstGeom prst="roundRect">
            <a:avLst>
              <a:gd name="adj" fmla="val 12000"/>
            </a:avLst>
          </a:prstGeom>
          <a:solidFill>
            <a:srgbClr val="EEF4F0"/>
          </a:solidFill>
          <a:ln/>
        </p:spPr>
      </p:sp>
      <p:sp>
        <p:nvSpPr>
          <p:cNvPr id="23" name="icon-bg-LuBinary"/>
          <p:cNvSpPr/>
          <p:nvPr/>
        </p:nvSpPr>
        <p:spPr>
          <a:xfrm>
            <a:off x="9217152" y="1783080"/>
            <a:ext cx="548640" cy="54864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4" name="icon-LuBinary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4312" y="1920240"/>
            <a:ext cx="274320" cy="2743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893808" y="1700784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UF2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9893808" y="204825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Firmware gravável</a:t>
            </a:r>
            <a:endParaRPr lang="en-US" sz="1200" dirty="0"/>
          </a:p>
        </p:txBody>
      </p:sp>
      <p:sp>
        <p:nvSpPr>
          <p:cNvPr id="27" name="codigo"/>
          <p:cNvSpPr/>
          <p:nvPr/>
        </p:nvSpPr>
        <p:spPr>
          <a:xfrm>
            <a:off x="548640" y="2788920"/>
            <a:ext cx="6035040" cy="3291840"/>
          </a:xfrm>
          <a:prstGeom prst="roundRect">
            <a:avLst>
              <a:gd name="adj" fmla="val 3333"/>
            </a:avLst>
          </a:prstGeom>
          <a:solidFill>
            <a:srgbClr val="0E211A"/>
          </a:solidFill>
          <a:ln/>
        </p:spPr>
      </p:sp>
      <p:sp>
        <p:nvSpPr>
          <p:cNvPr id="28" name="Text 19"/>
          <p:cNvSpPr txBox="1"/>
          <p:nvPr/>
        </p:nvSpPr>
        <p:spPr>
          <a:xfrm>
            <a:off x="822960" y="2926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A24F"/>
                </a:solidFill>
              </a:rPr>
              <a:t>models/model_data.h  (trecho gerado automaticamente)</a:t>
            </a:r>
            <a:endParaRPr lang="en-US" sz="1100" dirty="0"/>
          </a:p>
        </p:txBody>
      </p:sp>
      <p:sp>
        <p:nvSpPr>
          <p:cNvPr id="29" name="Text 20"/>
          <p:cNvSpPr txBox="1"/>
          <p:nvPr/>
        </p:nvSpPr>
        <p:spPr>
          <a:xfrm>
            <a:off x="822960" y="3291840"/>
            <a:ext cx="55778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(x[2] &lt;= 0.5) {            // sem presença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(x[0] &lt;= 29.95) {         // temperatura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(x[1] &lt;= 79.90) return NORMAL;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if (x[1] &lt;= 89.5) return ALERTA;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 return CRITICO;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...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9E3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... }                // com presença</a:t>
            </a:r>
            <a:endParaRPr lang="en-US" sz="1300" dirty="0"/>
          </a:p>
        </p:txBody>
      </p:sp>
      <p:sp>
        <p:nvSpPr>
          <p:cNvPr id="30" name="stat"/>
          <p:cNvSpPr/>
          <p:nvPr/>
        </p:nvSpPr>
        <p:spPr>
          <a:xfrm>
            <a:off x="681228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1" name="Text 22"/>
          <p:cNvSpPr txBox="1"/>
          <p:nvPr/>
        </p:nvSpPr>
        <p:spPr>
          <a:xfrm>
            <a:off x="704088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13.224</a:t>
            </a:r>
            <a:endParaRPr lang="en-US" sz="4000" dirty="0"/>
          </a:p>
        </p:txBody>
      </p:sp>
      <p:sp>
        <p:nvSpPr>
          <p:cNvPr id="32" name="Text 23"/>
          <p:cNvSpPr txBox="1"/>
          <p:nvPr/>
        </p:nvSpPr>
        <p:spPr>
          <a:xfrm>
            <a:off x="704088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casos Python × C++</a:t>
            </a:r>
            <a:endParaRPr lang="en-US" sz="1300" dirty="0"/>
          </a:p>
        </p:txBody>
      </p:sp>
      <p:sp>
        <p:nvSpPr>
          <p:cNvPr id="33" name="stat"/>
          <p:cNvSpPr/>
          <p:nvPr/>
        </p:nvSpPr>
        <p:spPr>
          <a:xfrm>
            <a:off x="9281160" y="278892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4" name="Text 25"/>
          <p:cNvSpPr txBox="1"/>
          <p:nvPr/>
        </p:nvSpPr>
        <p:spPr>
          <a:xfrm>
            <a:off x="9509760" y="295351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8A70"/>
                </a:solidFill>
              </a:rPr>
              <a:t>0</a:t>
            </a:r>
            <a:endParaRPr lang="en-US" sz="4000" dirty="0"/>
          </a:p>
        </p:txBody>
      </p:sp>
      <p:sp>
        <p:nvSpPr>
          <p:cNvPr id="35" name="Text 26"/>
          <p:cNvSpPr txBox="1"/>
          <p:nvPr/>
        </p:nvSpPr>
        <p:spPr>
          <a:xfrm>
            <a:off x="9509760" y="365760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divergências</a:t>
            </a:r>
            <a:endParaRPr lang="en-US" sz="1300" dirty="0"/>
          </a:p>
        </p:txBody>
      </p:sp>
      <p:sp>
        <p:nvSpPr>
          <p:cNvPr id="36" name="stat"/>
          <p:cNvSpPr/>
          <p:nvPr/>
        </p:nvSpPr>
        <p:spPr>
          <a:xfrm>
            <a:off x="681228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37" name="Text 28"/>
          <p:cNvSpPr txBox="1"/>
          <p:nvPr/>
        </p:nvSpPr>
        <p:spPr>
          <a:xfrm>
            <a:off x="704088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98A52"/>
                </a:solidFill>
              </a:rPr>
              <a:t>302 kB</a:t>
            </a:r>
            <a:endParaRPr lang="en-US" sz="3200" dirty="0"/>
          </a:p>
        </p:txBody>
      </p:sp>
      <p:sp>
        <p:nvSpPr>
          <p:cNvPr id="38" name="Text 29"/>
          <p:cNvSpPr txBox="1"/>
          <p:nvPr/>
        </p:nvSpPr>
        <p:spPr>
          <a:xfrm>
            <a:off x="704088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flash · 14 % de 2 MB</a:t>
            </a:r>
            <a:endParaRPr lang="en-US" sz="1300" dirty="0"/>
          </a:p>
        </p:txBody>
      </p:sp>
      <p:sp>
        <p:nvSpPr>
          <p:cNvPr id="39" name="stat"/>
          <p:cNvSpPr/>
          <p:nvPr/>
        </p:nvSpPr>
        <p:spPr>
          <a:xfrm>
            <a:off x="9281160" y="4251960"/>
            <a:ext cx="2331720" cy="1325880"/>
          </a:xfrm>
          <a:prstGeom prst="roundRect">
            <a:avLst>
              <a:gd name="adj" fmla="val 8276"/>
            </a:avLst>
          </a:prstGeom>
          <a:solidFill>
            <a:srgbClr val="EEF4F0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9509760" y="4416552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7BB5"/>
                </a:solidFill>
              </a:rPr>
              <a:t>69 kB</a:t>
            </a:r>
            <a:endParaRPr lang="en-US" sz="3200" dirty="0"/>
          </a:p>
        </p:txBody>
      </p:sp>
      <p:sp>
        <p:nvSpPr>
          <p:cNvPr id="41" name="Text 32"/>
          <p:cNvSpPr txBox="1"/>
          <p:nvPr/>
        </p:nvSpPr>
        <p:spPr>
          <a:xfrm>
            <a:off x="9509760" y="512064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E6F67"/>
                </a:solidFill>
              </a:rPr>
              <a:t>RAM · 26 % de 264 kB</a:t>
            </a:r>
            <a:endParaRPr lang="en-US" sz="1300" dirty="0"/>
          </a:p>
        </p:txBody>
      </p:sp>
      <p:sp>
        <p:nvSpPr>
          <p:cNvPr id="42" name="Text 33"/>
          <p:cNvSpPr txBox="1"/>
          <p:nvPr/>
        </p:nvSpPr>
        <p:spPr>
          <a:xfrm>
            <a:off x="6812280" y="56692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E6F67"/>
                </a:solidFill>
              </a:rPr>
              <a:t>Flash e RAM medidos no firmware completo, com core Arduino, Wi-Fi e drivers. O modelo em si ocupa poucas centenas de bytes.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12 · PREVISÃO E ROBUSTEZ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Antecipar o alerta e não confiar no modelo às cegas</a:t>
            </a:r>
            <a:endParaRPr lang="en-US" sz="3400" dirty="0"/>
          </a:p>
        </p:txBody>
      </p:sp>
      <p:graphicFrame>
        <p:nvGraphicFramePr>
          <p:cNvPr id="4" name="grafico-regressao" descr=""/>
          <p:cNvGraphicFramePr/>
          <p:nvPr/>
        </p:nvGraphicFramePr>
        <p:xfrm>
          <a:off x="548640" y="160020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gressao-info"/>
          <p:cNvSpPr/>
          <p:nvPr/>
        </p:nvSpPr>
        <p:spPr>
          <a:xfrm>
            <a:off x="548640" y="484632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8EAD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4937760"/>
            <a:ext cx="4892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52"/>
                </a:solidFill>
              </a:rPr>
              <a:t>Regressão linear embarcada: </a:t>
            </a:r>
            <a:pPr indent="0" marL="0">
              <a:buNone/>
            </a:pPr>
            <a:r>
              <a:rPr lang="en-US" sz="1300" dirty="0">
                <a:solidFill>
                  <a:srgbClr val="15291F"/>
                </a:solidFill>
              </a:rPr>
              <a:t>10 coeficientes sobre a janela das últimas 10 leituras. Se a temperatura prevista mudar a classe para pior, a placa sinaliza alerta_futuro.</a:t>
            </a:r>
            <a:endParaRPr lang="en-US" sz="1300" dirty="0"/>
          </a:p>
        </p:txBody>
      </p:sp>
      <p:sp>
        <p:nvSpPr>
          <p:cNvPr id="7" name="ood"/>
          <p:cNvSpPr/>
          <p:nvPr/>
        </p:nvSpPr>
        <p:spPr>
          <a:xfrm>
            <a:off x="6263640" y="1600200"/>
            <a:ext cx="53492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537960" y="17830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Proteção fora do domínio de treino</a:t>
            </a:r>
            <a:endParaRPr lang="en-US" sz="1600" dirty="0"/>
          </a:p>
        </p:txBody>
      </p:sp>
      <p:sp>
        <p:nvSpPr>
          <p:cNvPr id="9" name="ood-leitura"/>
          <p:cNvSpPr/>
          <p:nvPr/>
        </p:nvSpPr>
        <p:spPr>
          <a:xfrm>
            <a:off x="7498080" y="2286000"/>
            <a:ext cx="288036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589520" y="22860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Nova leitura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938260" y="2834640"/>
            <a:ext cx="0" cy="320040"/>
          </a:xfrm>
          <a:prstGeom prst="line">
            <a:avLst/>
          </a:prstGeom>
          <a:noFill/>
          <a:ln w="19050">
            <a:solidFill>
              <a:srgbClr val="5E6F67"/>
            </a:solidFill>
            <a:prstDash val="solid"/>
            <a:tailEnd type="triangle"/>
          </a:ln>
        </p:spPr>
      </p:sp>
      <p:sp>
        <p:nvSpPr>
          <p:cNvPr id="12" name="ood-teste"/>
          <p:cNvSpPr/>
          <p:nvPr/>
        </p:nvSpPr>
        <p:spPr>
          <a:xfrm>
            <a:off x="7040880" y="3154680"/>
            <a:ext cx="3794760" cy="777240"/>
          </a:xfrm>
          <a:prstGeom prst="roundRect">
            <a:avLst>
              <a:gd name="adj" fmla="val 14118"/>
            </a:avLst>
          </a:prstGeom>
          <a:solidFill>
            <a:srgbClr val="0E21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32320" y="3154680"/>
            <a:ext cx="3611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 entre 20 e 39,8 °C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 U entre 40 e 98 %?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726680" y="3931920"/>
            <a:ext cx="0" cy="457200"/>
          </a:xfrm>
          <a:prstGeom prst="line">
            <a:avLst/>
          </a:prstGeom>
          <a:noFill/>
          <a:ln w="19050">
            <a:solidFill>
              <a:srgbClr val="3F8A70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10241280" y="3931920"/>
            <a:ext cx="0" cy="457200"/>
          </a:xfrm>
          <a:prstGeom prst="line">
            <a:avLst/>
          </a:prstGeom>
          <a:noFill/>
          <a:ln w="19050">
            <a:solidFill>
              <a:srgbClr val="CC665E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78181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F8A70"/>
                </a:solidFill>
              </a:rPr>
              <a:t>sim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0" y="4005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C665E"/>
                </a:solidFill>
              </a:rPr>
              <a:t>não</a:t>
            </a:r>
            <a:endParaRPr lang="en-US" sz="1100" dirty="0"/>
          </a:p>
        </p:txBody>
      </p:sp>
      <p:sp>
        <p:nvSpPr>
          <p:cNvPr id="18" name="ood-arvore"/>
          <p:cNvSpPr/>
          <p:nvPr/>
        </p:nvSpPr>
        <p:spPr>
          <a:xfrm>
            <a:off x="6537960" y="4389120"/>
            <a:ext cx="2377440" cy="685800"/>
          </a:xfrm>
          <a:prstGeom prst="roundRect">
            <a:avLst>
              <a:gd name="adj" fmla="val 16000"/>
            </a:avLst>
          </a:prstGeom>
          <a:solidFill>
            <a:srgbClr val="E1EFE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8912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8A70"/>
                </a:solidFill>
              </a:rPr>
              <a:t>Árvore de decisão</a:t>
            </a:r>
            <a:endParaRPr lang="en-US" sz="1300" dirty="0"/>
          </a:p>
        </p:txBody>
      </p:sp>
      <p:sp>
        <p:nvSpPr>
          <p:cNvPr id="20" name="ood-regras"/>
          <p:cNvSpPr/>
          <p:nvPr/>
        </p:nvSpPr>
        <p:spPr>
          <a:xfrm>
            <a:off x="9098280" y="4389120"/>
            <a:ext cx="2331720" cy="685800"/>
          </a:xfrm>
          <a:prstGeom prst="roundRect">
            <a:avLst>
              <a:gd name="adj" fmla="val 16000"/>
            </a:avLst>
          </a:prstGeom>
          <a:solidFill>
            <a:srgbClr val="F6E1D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9189720" y="438912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C665E"/>
                </a:solidFill>
              </a:rPr>
              <a:t>Regras determinísticas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530352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Leitura inválida (NaN ou fora dos limites físicos): inferência suspensa e atuadores desligados.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13 · GRAVAÇÃO E EXECUÇÃO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Firmware gravado e rodando no Pico W</a:t>
            </a:r>
            <a:endParaRPr lang="en-US" sz="3400" dirty="0"/>
          </a:p>
        </p:txBody>
      </p:sp>
      <p:sp>
        <p:nvSpPr>
          <p:cNvPr id="4" name="passo-0"/>
          <p:cNvSpPr/>
          <p:nvPr/>
        </p:nvSpPr>
        <p:spPr>
          <a:xfrm>
            <a:off x="548640" y="160020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80136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49808" y="18013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7099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BOOTSEL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03911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Segurar o botão ao conectar: a placa vira o drive RPI-RP2</a:t>
            </a:r>
            <a:endParaRPr lang="en-US" sz="1200" dirty="0"/>
          </a:p>
        </p:txBody>
      </p:sp>
      <p:sp>
        <p:nvSpPr>
          <p:cNvPr id="9" name="passo-1"/>
          <p:cNvSpPr/>
          <p:nvPr/>
        </p:nvSpPr>
        <p:spPr>
          <a:xfrm>
            <a:off x="548640" y="269748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0" name="Shape 8"/>
          <p:cNvSpPr/>
          <p:nvPr/>
        </p:nvSpPr>
        <p:spPr>
          <a:xfrm>
            <a:off x="749808" y="289864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80720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UF2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363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Copiar tinyml_tree.uf2 para o drive</a:t>
            </a:r>
            <a:endParaRPr lang="en-US" sz="1200" dirty="0"/>
          </a:p>
        </p:txBody>
      </p:sp>
      <p:sp>
        <p:nvSpPr>
          <p:cNvPr id="14" name="passo-2"/>
          <p:cNvSpPr/>
          <p:nvPr/>
        </p:nvSpPr>
        <p:spPr>
          <a:xfrm>
            <a:off x="548640" y="379476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49808" y="399592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3995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0448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Reinício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42336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O Pico inicia o firmware C++ automaticamente</a:t>
            </a:r>
            <a:endParaRPr lang="en-US" sz="1200" dirty="0"/>
          </a:p>
        </p:txBody>
      </p:sp>
      <p:sp>
        <p:nvSpPr>
          <p:cNvPr id="19" name="passo-3"/>
          <p:cNvSpPr/>
          <p:nvPr/>
        </p:nvSpPr>
        <p:spPr>
          <a:xfrm>
            <a:off x="548640" y="4892040"/>
            <a:ext cx="4937760" cy="960120"/>
          </a:xfrm>
          <a:prstGeom prst="roundRect">
            <a:avLst>
              <a:gd name="adj" fmla="val 11429"/>
            </a:avLst>
          </a:prstGeom>
          <a:solidFill>
            <a:srgbClr val="EEF4F0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5093208"/>
            <a:ext cx="548640" cy="548640"/>
          </a:xfrm>
          <a:prstGeom prst="ellipse">
            <a:avLst/>
          </a:prstGeom>
          <a:solidFill>
            <a:srgbClr val="0E21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500176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91F"/>
                </a:solidFill>
              </a:rPr>
              <a:t>Serial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508760" y="533095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Monitor a 115200 baud mostra a classe prevista</a:t>
            </a:r>
            <a:endParaRPr lang="en-US" sz="1200" dirty="0"/>
          </a:p>
        </p:txBody>
      </p:sp>
      <p:sp>
        <p:nvSpPr>
          <p:cNvPr id="24" name="serial-bg"/>
          <p:cNvSpPr/>
          <p:nvPr/>
        </p:nvSpPr>
        <p:spPr>
          <a:xfrm>
            <a:off x="5760720" y="1600200"/>
            <a:ext cx="5852160" cy="4526280"/>
          </a:xfrm>
          <a:prstGeom prst="roundRect">
            <a:avLst>
              <a:gd name="adj" fmla="val 2424"/>
            </a:avLst>
          </a:prstGeom>
          <a:solidFill>
            <a:srgbClr val="0E211A"/>
          </a:solidFill>
          <a:ln/>
        </p:spPr>
      </p:sp>
      <p:pic>
        <p:nvPicPr>
          <p:cNvPr id="25" name="print-serial" descr="/home/moas/Ambiente/apresentacao/img/saida-serial-pi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28800"/>
            <a:ext cx="5394960" cy="3849624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5989320" y="574243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9E3CF"/>
                </a:solidFill>
              </a:rPr>
              <a:t>Saída real: T=26,7 °C · U=61 % · classe=normal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14 · NUVEM E PAINEL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Do Pico W ao navegador, com segurança</a:t>
            </a:r>
            <a:endParaRPr lang="en-US" sz="3400" dirty="0"/>
          </a:p>
        </p:txBody>
      </p:sp>
      <p:sp>
        <p:nvSpPr>
          <p:cNvPr id="4" name="dash-bg"/>
          <p:cNvSpPr/>
          <p:nvPr/>
        </p:nvSpPr>
        <p:spPr>
          <a:xfrm>
            <a:off x="548640" y="1600200"/>
            <a:ext cx="6949440" cy="4526280"/>
          </a:xfrm>
          <a:prstGeom prst="roundRect">
            <a:avLst>
              <a:gd name="adj" fmla="val 2424"/>
            </a:avLst>
          </a:prstGeom>
          <a:solidFill>
            <a:srgbClr val="EEF4F0"/>
          </a:solidFill>
          <a:ln/>
        </p:spPr>
      </p:sp>
      <p:pic>
        <p:nvPicPr>
          <p:cNvPr id="5" name="print-painel" descr="/home/moas/Ambiente/apresentacao/img/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6583680" cy="4114800"/>
          </a:xfrm>
          <a:prstGeom prst="rect">
            <a:avLst/>
          </a:prstGeom>
        </p:spPr>
      </p:pic>
      <p:sp>
        <p:nvSpPr>
          <p:cNvPr id="6" name="nuvem-0"/>
          <p:cNvSpPr/>
          <p:nvPr/>
        </p:nvSpPr>
        <p:spPr>
          <a:xfrm>
            <a:off x="7726680" y="1600200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7" name="icon-bg-LuCpu"/>
          <p:cNvSpPr/>
          <p:nvPr/>
        </p:nvSpPr>
        <p:spPr>
          <a:xfrm>
            <a:off x="7863840" y="1746504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8" name="icon-LuCpu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88366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54964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Pico W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1993392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POST HTTPS a cada 10 s com token</a:t>
            </a:r>
            <a:endParaRPr lang="en-US" sz="1200" dirty="0"/>
          </a:p>
        </p:txBody>
      </p:sp>
      <p:sp>
        <p:nvSpPr>
          <p:cNvPr id="11" name="nuvem-1"/>
          <p:cNvSpPr/>
          <p:nvPr/>
        </p:nvSpPr>
        <p:spPr>
          <a:xfrm>
            <a:off x="7726680" y="2587752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2" name="icon-bg-LuShieldCheck"/>
          <p:cNvSpPr/>
          <p:nvPr/>
        </p:nvSpPr>
        <p:spPr>
          <a:xfrm>
            <a:off x="7863840" y="2734056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3" name="icon-LuShield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87121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49640" y="26791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Edge Function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549640" y="2980944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Valida o token e o conteúdo da leitura</a:t>
            </a:r>
            <a:endParaRPr lang="en-US" sz="1200" dirty="0"/>
          </a:p>
        </p:txBody>
      </p:sp>
      <p:sp>
        <p:nvSpPr>
          <p:cNvPr id="16" name="nuvem-2"/>
          <p:cNvSpPr/>
          <p:nvPr/>
        </p:nvSpPr>
        <p:spPr>
          <a:xfrm>
            <a:off x="7726680" y="3575304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D7E2DB"/>
            </a:solidFill>
            <a:prstDash val="solid"/>
          </a:ln>
        </p:spPr>
      </p:sp>
      <p:sp>
        <p:nvSpPr>
          <p:cNvPr id="17" name="icon-bg-LuDatabase"/>
          <p:cNvSpPr/>
          <p:nvPr/>
        </p:nvSpPr>
        <p:spPr>
          <a:xfrm>
            <a:off x="7863840" y="3721608"/>
            <a:ext cx="548640" cy="54864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18" name="icon-LuDatab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858768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49640" y="366674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91F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8549640" y="3968496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E6F67"/>
                </a:solidFill>
              </a:rPr>
              <a:t>Restrições CHECK + Row Level Security</a:t>
            </a:r>
            <a:endParaRPr lang="en-US" sz="1200" dirty="0"/>
          </a:p>
        </p:txBody>
      </p:sp>
      <p:sp>
        <p:nvSpPr>
          <p:cNvPr id="21" name="nuvem-3"/>
          <p:cNvSpPr/>
          <p:nvPr/>
        </p:nvSpPr>
        <p:spPr>
          <a:xfrm>
            <a:off x="7726680" y="4562856"/>
            <a:ext cx="3886200" cy="841248"/>
          </a:xfrm>
          <a:prstGeom prst="roundRect">
            <a:avLst>
              <a:gd name="adj" fmla="val 13043"/>
            </a:avLst>
          </a:prstGeom>
          <a:solidFill>
            <a:srgbClr val="0E211A"/>
          </a:solidFill>
          <a:ln/>
        </p:spPr>
      </p:sp>
      <p:sp>
        <p:nvSpPr>
          <p:cNvPr id="22" name="icon-bg-LuMonitor"/>
          <p:cNvSpPr/>
          <p:nvPr/>
        </p:nvSpPr>
        <p:spPr>
          <a:xfrm>
            <a:off x="7863840" y="470916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3" name="icon-LuMonitor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0" y="4846320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549640" y="465429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Painel React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8549640" y="49560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Vercel · USB, nuvem e simulador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726680" y="562356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3F8A7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24F"/>
                </a:solidFill>
              </a:rPr>
              <a:t>15 · DEMONSTRAÇÃO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Funcionando de ponta a ponta</a:t>
            </a:r>
            <a:endParaRPr lang="en-US" sz="3400" dirty="0"/>
          </a:p>
        </p:txBody>
      </p:sp>
      <p:pic>
        <p:nvPicPr>
          <p:cNvPr id="3" name="video-dem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554480"/>
            <a:ext cx="2651760" cy="4754880"/>
          </a:xfrm>
          <a:prstGeom prst="rect">
            <a:avLst/>
          </a:prstGeom>
        </p:spPr>
      </p:pic>
      <p:sp>
        <p:nvSpPr>
          <p:cNvPr id="5" name="demo-0"/>
          <p:cNvSpPr/>
          <p:nvPr/>
        </p:nvSpPr>
        <p:spPr>
          <a:xfrm>
            <a:off x="3657600" y="1554480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6" name="icon-bg-LuRadar"/>
          <p:cNvSpPr/>
          <p:nvPr/>
        </p:nvSpPr>
        <p:spPr>
          <a:xfrm>
            <a:off x="3813048" y="1700784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7" name="icon-LuRadar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183794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526280" y="164592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A placa lê os sensores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526280" y="1965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DHT11 e IR na protoboard, ciclo de 2 s</a:t>
            </a:r>
            <a:endParaRPr lang="en-US" sz="1200" dirty="0"/>
          </a:p>
        </p:txBody>
      </p:sp>
      <p:sp>
        <p:nvSpPr>
          <p:cNvPr id="10" name="demo-1"/>
          <p:cNvSpPr/>
          <p:nvPr/>
        </p:nvSpPr>
        <p:spPr>
          <a:xfrm>
            <a:off x="3657600" y="2542032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1" name="icon-bg-LuCpu"/>
          <p:cNvSpPr/>
          <p:nvPr/>
        </p:nvSpPr>
        <p:spPr>
          <a:xfrm>
            <a:off x="3813048" y="2688336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2" name="icon-LuCpu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08" y="282549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2628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Classifica sem computador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26280" y="29535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A árvore roda no RP2040 e aciona o LED</a:t>
            </a:r>
            <a:endParaRPr lang="en-US" sz="1200" dirty="0"/>
          </a:p>
        </p:txBody>
      </p:sp>
      <p:sp>
        <p:nvSpPr>
          <p:cNvPr id="15" name="demo-2"/>
          <p:cNvSpPr/>
          <p:nvPr/>
        </p:nvSpPr>
        <p:spPr>
          <a:xfrm>
            <a:off x="3657600" y="3529584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16" name="icon-bg-LuCloud"/>
          <p:cNvSpPr/>
          <p:nvPr/>
        </p:nvSpPr>
        <p:spPr>
          <a:xfrm>
            <a:off x="3813048" y="3675888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17" name="icon-LuCloud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50208" y="3813048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526280" y="362102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Envia por Wi-Fi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394106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Leitura autenticada gravada no Supabase</a:t>
            </a:r>
            <a:endParaRPr lang="en-US" sz="1200" dirty="0"/>
          </a:p>
        </p:txBody>
      </p:sp>
      <p:sp>
        <p:nvSpPr>
          <p:cNvPr id="20" name="demo-3"/>
          <p:cNvSpPr/>
          <p:nvPr/>
        </p:nvSpPr>
        <p:spPr>
          <a:xfrm>
            <a:off x="3657600" y="4517136"/>
            <a:ext cx="5120640" cy="841248"/>
          </a:xfrm>
          <a:prstGeom prst="roundRect">
            <a:avLst>
              <a:gd name="adj" fmla="val 13043"/>
            </a:avLst>
          </a:prstGeom>
          <a:solidFill>
            <a:srgbClr val="17342B"/>
          </a:solidFill>
          <a:ln/>
        </p:spPr>
      </p:sp>
      <p:sp>
        <p:nvSpPr>
          <p:cNvPr id="21" name="icon-bg-LuMonitor"/>
          <p:cNvSpPr/>
          <p:nvPr/>
        </p:nvSpPr>
        <p:spPr>
          <a:xfrm>
            <a:off x="3813048" y="4663440"/>
            <a:ext cx="548640" cy="54864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2" name="icon-LuMonitor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480060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526280" y="460857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O painel atualiza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4526280" y="49286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9BEB4"/>
                </a:solidFill>
              </a:rPr>
              <a:t>O mesmo dado aparece no site em segundos</a:t>
            </a:r>
            <a:endParaRPr lang="en-US" sz="1200" dirty="0"/>
          </a:p>
        </p:txBody>
      </p:sp>
      <p:sp>
        <p:nvSpPr>
          <p:cNvPr id="25" name="qr-card"/>
          <p:cNvSpPr/>
          <p:nvPr/>
        </p:nvSpPr>
        <p:spPr>
          <a:xfrm>
            <a:off x="9144000" y="1554480"/>
            <a:ext cx="2468880" cy="3108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pic>
        <p:nvPicPr>
          <p:cNvPr id="26" name="qr-demo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1737360"/>
            <a:ext cx="2103120" cy="2103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2811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5291F"/>
                </a:solidFill>
              </a:rPr>
              <a:t>Acesse o painel ao vivo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3657600" y="562356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B9E3CF"/>
                </a:solidFill>
              </a:rPr>
              <a:t>O notebook só exibe o site: todo o processamento acontece na placa.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EB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8A70"/>
                </a:solidFill>
              </a:rPr>
              <a:t>16 · CONCLUSÃO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58368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5291F"/>
                </a:solidFill>
              </a:rPr>
              <a:t>Resultados, limitações e próximos passos</a:t>
            </a:r>
            <a:endParaRPr lang="en-US" sz="3400" dirty="0"/>
          </a:p>
        </p:txBody>
      </p:sp>
      <p:sp>
        <p:nvSpPr>
          <p:cNvPr id="4" name="conclusao-0"/>
          <p:cNvSpPr/>
          <p:nvPr/>
        </p:nvSpPr>
        <p:spPr>
          <a:xfrm>
            <a:off x="54864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5" name="icon-bg-LuCircleCheck"/>
          <p:cNvSpPr/>
          <p:nvPr/>
        </p:nvSpPr>
        <p:spPr>
          <a:xfrm>
            <a:off x="822960" y="1828800"/>
            <a:ext cx="685800" cy="685800"/>
          </a:xfrm>
          <a:prstGeom prst="ellipse">
            <a:avLst/>
          </a:prstGeom>
          <a:solidFill>
            <a:srgbClr val="E1EFE8"/>
          </a:solidFill>
          <a:ln/>
        </p:spPr>
      </p:sp>
      <p:pic>
        <p:nvPicPr>
          <p:cNvPr id="6" name="icon-LuCircle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00025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O que alcançamos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Pipeline TinyML completo, do sensor ao firmware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F1 macro de 99,3 % com 25 nós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Previsão de +60 s e fallback seguro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Nuvem segura e painel publicado</a:t>
            </a:r>
            <a:endParaRPr lang="en-US" sz="1400" dirty="0"/>
          </a:p>
        </p:txBody>
      </p:sp>
      <p:sp>
        <p:nvSpPr>
          <p:cNvPr id="9" name="conclusao-1"/>
          <p:cNvSpPr/>
          <p:nvPr/>
        </p:nvSpPr>
        <p:spPr>
          <a:xfrm>
            <a:off x="429768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0" name="icon-bg-LuTriangleAlert"/>
          <p:cNvSpPr/>
          <p:nvPr/>
        </p:nvSpPr>
        <p:spPr>
          <a:xfrm>
            <a:off x="4572000" y="1828800"/>
            <a:ext cx="685800" cy="685800"/>
          </a:xfrm>
          <a:prstGeom prst="ellipse">
            <a:avLst/>
          </a:prstGeom>
          <a:solidFill>
            <a:srgbClr val="F7EDDA"/>
          </a:solidFill>
          <a:ln/>
        </p:spPr>
      </p:sp>
      <p:pic>
        <p:nvPicPr>
          <p:cNvPr id="11" name="icon-LuTriangleAlert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450" y="200025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Rótulos derivados das regras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76 % do dataset é sintético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Sem sessões ou horários na coleta real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DHT11 com ±2 °C e ±5 % UR</a:t>
            </a:r>
            <a:endParaRPr lang="en-US" sz="1400" dirty="0"/>
          </a:p>
        </p:txBody>
      </p:sp>
      <p:sp>
        <p:nvSpPr>
          <p:cNvPr id="14" name="conclusao-2"/>
          <p:cNvSpPr/>
          <p:nvPr/>
        </p:nvSpPr>
        <p:spPr>
          <a:xfrm>
            <a:off x="8046720" y="1600200"/>
            <a:ext cx="3520440" cy="3611880"/>
          </a:xfrm>
          <a:prstGeom prst="roundRect">
            <a:avLst>
              <a:gd name="adj" fmla="val 3117"/>
            </a:avLst>
          </a:prstGeom>
          <a:solidFill>
            <a:srgbClr val="EEF4F0"/>
          </a:solidFill>
          <a:ln/>
        </p:spPr>
      </p:sp>
      <p:sp>
        <p:nvSpPr>
          <p:cNvPr id="15" name="icon-bg-LuTrendingUp"/>
          <p:cNvSpPr/>
          <p:nvPr/>
        </p:nvSpPr>
        <p:spPr>
          <a:xfrm>
            <a:off x="8321040" y="1828800"/>
            <a:ext cx="685800" cy="685800"/>
          </a:xfrm>
          <a:prstGeom prst="ellipse">
            <a:avLst/>
          </a:prstGeom>
          <a:solidFill>
            <a:srgbClr val="ECE8F4"/>
          </a:solidFill>
          <a:ln/>
        </p:spPr>
      </p:sp>
      <p:pic>
        <p:nvPicPr>
          <p:cNvPr id="16" name="icon-LuTrendingUp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2490" y="2000250"/>
            <a:ext cx="342900" cy="3429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6974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291F"/>
                </a:solidFill>
              </a:rPr>
              <a:t>Próximos passos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154680"/>
            <a:ext cx="30632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Coletar sessões reais com rótulos observados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Sensor mais preciso (SHT31) e histerese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Medir latência e consumo na placa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5291F"/>
                </a:solidFill>
              </a:rPr>
              <a:t>Guardar leituras offline e notificar alertas</a:t>
            </a:r>
            <a:endParaRPr lang="en-US" sz="1400" dirty="0"/>
          </a:p>
        </p:txBody>
      </p:sp>
      <p:sp>
        <p:nvSpPr>
          <p:cNvPr id="19" name="mensagem-final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E211A"/>
          </a:solidFill>
          <a:ln/>
        </p:spPr>
      </p:sp>
      <p:sp>
        <p:nvSpPr>
          <p:cNvPr id="20" name="icon-bg-LuSparkles"/>
          <p:cNvSpPr/>
          <p:nvPr/>
        </p:nvSpPr>
        <p:spPr>
          <a:xfrm>
            <a:off x="777240" y="5532120"/>
            <a:ext cx="457200" cy="457200"/>
          </a:xfrm>
          <a:prstGeom prst="ellipse">
            <a:avLst/>
          </a:prstGeom>
          <a:solidFill>
            <a:srgbClr val="21453A"/>
          </a:solidFill>
          <a:ln/>
        </p:spPr>
      </p:sp>
      <p:pic>
        <p:nvPicPr>
          <p:cNvPr id="21" name="icon-LuSparkle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5646420"/>
            <a:ext cx="228600" cy="2286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1732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Resultado: um pipeline TinyML completo, do sensor físico ao firmware executando no microcontrolador.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F67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oto-prototipo-final" descr="/home/moas/Ambiente/apresentacao/img/prototipo-montad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body" hasCustomPrompt="1"/>
          </p:nvPr>
        </p:nvSpPr>
        <p:spPr>
          <a:xfrm>
            <a:off x="548640" y="10972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24F"/>
                </a:solidFill>
              </a:rPr>
              <a:t>AGRADECEMOS A ATENÇÃO</a:t>
            </a:r>
            <a:endParaRPr lang="en-US" sz="1300" dirty="0"/>
          </a:p>
        </p:txBody>
      </p:sp>
      <p:sp>
        <p:nvSpPr>
          <p:cNvPr id="4" name="Text 0"/>
          <p:cNvSpPr/>
          <p:nvPr>
            <p:ph idx="101" type="title" hasCustomPrompt="1"/>
          </p:nvPr>
        </p:nvSpPr>
        <p:spPr>
          <a:xfrm>
            <a:off x="548640" y="1554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</a:rPr>
              <a:t>Inteligência que cabe na placa</a:t>
            </a:r>
            <a:endParaRPr lang="en-US" sz="5000" dirty="0"/>
          </a:p>
        </p:txBody>
      </p:sp>
      <p:sp>
        <p:nvSpPr>
          <p:cNvPr id="5" name="Text 0"/>
          <p:cNvSpPr/>
          <p:nvPr>
            <p:ph idx="102" type="body" hasCustomPrompt="1"/>
          </p:nvPr>
        </p:nvSpPr>
        <p:spPr>
          <a:xfrm>
            <a:off x="548640" y="329184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A9BEB4"/>
                </a:solidFill>
              </a:rPr>
              <a:t>Perguntas?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9788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Rafaela Santana  ·  Miriam Aguiar  ·  Sara Coutinho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A9BEB4"/>
                </a:solidFill>
              </a:rPr>
              <a:t>Prof. Rodrigo Kobashikawa Rosa  ·  SENAI Santa Catarina</a:t>
            </a:r>
            <a:endParaRPr lang="en-US" sz="1300" dirty="0"/>
          </a:p>
        </p:txBody>
      </p:sp>
      <p:sp>
        <p:nvSpPr>
          <p:cNvPr id="7" name="qr-repo-bg"/>
          <p:cNvSpPr/>
          <p:nvPr/>
        </p:nvSpPr>
        <p:spPr>
          <a:xfrm>
            <a:off x="548640" y="4023360"/>
            <a:ext cx="16002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/>
        </p:spPr>
      </p:sp>
      <p:pic>
        <p:nvPicPr>
          <p:cNvPr id="8" name="qr-rep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114800"/>
            <a:ext cx="1417320" cy="1417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4023360"/>
            <a:ext cx="45720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Código e documentação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github.com/rafaelasantana-ia/classificador-de-ambiente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15291F"/>
                </a:solidFill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Painel ao vivo</a:t>
            </a:r>
            <a:endParaRPr lang="en-US" sz="1400" dirty="0"/>
          </a:p>
          <a:p>
            <a:pPr indent="0" marL="0">
              <a:buNone/>
            </a:pPr>
            <a:r>
              <a:rPr lang="en-US" sz="1400" u="sng" dirty="0">
                <a:solidFill>
                  <a:srgbClr val="B9E3C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classificador-de-ambiente.vercel.app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mbiente">
  <a:themeElements>
    <a:clrScheme name="Ambiente">
      <a:dk1>
        <a:srgbClr val="15291F"/>
      </a:dk1>
      <a:lt1>
        <a:srgbClr val="FFFFFF"/>
      </a:lt1>
      <a:dk2>
        <a:srgbClr val="0E211A"/>
      </a:dk2>
      <a:lt2>
        <a:srgbClr val="EEF4F0"/>
      </a:lt2>
      <a:accent1>
        <a:srgbClr val="3F8A70"/>
      </a:accent1>
      <a:accent2>
        <a:srgbClr val="D98A52"/>
      </a:accent2>
      <a:accent3>
        <a:srgbClr val="CC665E"/>
      </a:accent3>
      <a:accent4>
        <a:srgbClr val="8E7BB5"/>
      </a:accent4>
      <a:accent5>
        <a:srgbClr val="D9A24F"/>
      </a:accent5>
      <a:accent6>
        <a:srgbClr val="5FB394"/>
      </a:accent6>
      <a:hlink>
        <a:srgbClr val="3F8A70"/>
      </a:hlink>
      <a:folHlink>
        <a:srgbClr val="8E7BB5"/>
      </a:folHlink>
    </a:clrScheme>
    <a:fontScheme name="Ambient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SENAI Santa Catarina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Classificador de Ambiente — TinyML no Raspberry Pi Pico W</dc:title>
  <dc:subject>IA Embarcada e Modelos Compactos · Pós-graduação em IA Aplicada · SENAI Santa Catarina</dc:subject>
  <dc:creator>Rafaela Santana, Miriam Aguiar e Sara Coutinho</dc:creator>
  <cp:lastModifiedBy>Rafaela Santana, Miriam Aguiar e Sara Coutinho</cp:lastModifiedBy>
  <cp:revision>1</cp:revision>
  <dcterms:created xsi:type="dcterms:W3CDTF">2026-10-08T17:38:36Z</dcterms:created>
  <dcterms:modified xsi:type="dcterms:W3CDTF">2026-10-08T17:38:36Z</dcterms:modified>
</cp:coreProperties>
</file>